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48656fb-5ac1-b7fc-efb2-06eae4caa046}">
          <p14:sldIdLst>
            <p14:sldId id="256"/>
            <p14:sldId id="257"/>
          </p14:sldIdLst>
        </p14:section>
        <p14:section name="Le constat" id="{3fa82be9-2596-8da9-88a7-4408e2f9b354}">
          <p14:sldIdLst>
            <p14:sldId id="258"/>
            <p14:sldId id="259"/>
            <p14:sldId id="260"/>
          </p14:sldIdLst>
        </p14:section>
        <p14:section name="Ce que vous obtenez" id="{acf36dd0-f09b-1186-ec3a-f1c07e492e8d}">
          <p14:sldIdLst>
            <p14:sldId id="261"/>
            <p14:sldId id="262"/>
            <p14:sldId id="263"/>
            <p14:sldId id="264"/>
          </p14:sldIdLst>
        </p14:section>
        <p14:section name="Le calcul et la mesure" id="{af116b24-5029-5778-3b80-788007d64bdc}">
          <p14:sldIdLst>
            <p14:sldId id="265"/>
            <p14:sldId id="266"/>
            <p14:sldId id="267"/>
            <p14:sldId id="268"/>
          </p14:sldIdLst>
        </p14:section>
        <p14:section name="Décision" id="{632041ce-b8d3-a6af-1b22-b8a1d600c289}">
          <p14:sldIdLst>
            <p14:sldId id="269"/>
          </p14:sldIdLst>
        </p14:section>
        <p14:section name="Annexes" id="{614b9a2c-8b38-0835-d15d-be5f01891270}">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B2E59"/>
                </a:solidFill>
                <a:latin typeface="+mn-lt"/>
              </a:defRPr>
            </a:pPr>
            <a:r>
              <a:rPr sz="1500" b="0" i="0" u="none" strike="noStrike">
                <a:solidFill>
                  <a:srgbClr val="0B2E59"/>
                </a:solidFill>
                <a:latin typeface="+mn-lt"/>
              </a:rPr>
              <a:t>Valeur nette par développeur et par mois</a:t>
            </a:r>
          </a:p>
        </c:rich>
      </c:tx>
      <c:layout/>
      <c:overlay val="0"/>
    </c:title>
    <c:autoTitleDeleted val="0"/>
    <c:plotArea>
      <c:layout/>
      <c:barChart>
        <c:barDir val="col"/>
        <c:grouping val="clustered"/>
        <c:varyColors val="0"/>
        <c:ser>
          <c:idx val="0"/>
          <c:order val="0"/>
          <c:tx>
            <c:strRef>
              <c:f>Sheet1!$B$1</c:f>
              <c:strCache>
                <c:ptCount val="1"/>
                <c:pt idx="0">
                  <c:v>Valeur nette</c:v>
                </c:pt>
              </c:strCache>
            </c:strRef>
          </c:tx>
          <c:spPr>
            <a:solidFill>
              <a:srgbClr val="9DB9DD"/>
            </a:solidFill>
            <a:effectLst/>
          </c:spPr>
          <c:invertIfNegative val="0"/>
          <c:dLbls>
            <c:numFmt formatCode="+#,##0&quot; €&quot;;-#,##0&quot; €&quot;;0&quot; €&quot;" sourceLinked="0"/>
            <c:txPr>
              <a:bodyPr/>
              <a:lstStyle/>
              <a:p>
                <a:pPr>
                  <a:defRPr b="0" i="0" strike="noStrike" sz="1300" u="none">
                    <a:solidFill>
                      <a:srgbClr val="0B2E59"/>
                    </a:solidFill>
                    <a:latin typeface="+mn-lt"/>
                  </a:defRPr>
                </a:pPr>
              </a:p>
            </c:txPr>
            <c:showLegendKey val="0"/>
            <c:showVal val="1"/>
            <c:showCatName val="0"/>
            <c:showSerName val="0"/>
            <c:showPercent val="0"/>
            <c:showBubbleSize val="0"/>
            <c:showLeaderLines val="0"/>
          </c:dLbls>
          <c:dPt>
            <c:idx val="0"/>
            <c:invertIfNegative val="0"/>
            <c:bubble3D val="0"/>
            <c:spPr>
              <a:solidFill>
                <a:srgbClr val="9DB9DD"/>
              </a:solidFill>
              <a:effectLst/>
            </c:spPr>
          </c:dPt>
          <c:dPt>
            <c:idx val="1"/>
            <c:invertIfNegative val="0"/>
            <c:bubble3D val="0"/>
            <c:spPr>
              <a:solidFill>
                <a:srgbClr val="9DB9DD"/>
              </a:solidFill>
              <a:effectLst/>
            </c:spPr>
          </c:dPt>
          <c:dPt>
            <c:idx val="2"/>
            <c:invertIfNegative val="0"/>
            <c:bubble3D val="0"/>
            <c:spPr>
              <a:solidFill>
                <a:srgbClr val="4A90D9"/>
              </a:solidFill>
              <a:effectLst/>
            </c:spPr>
          </c:dPt>
          <c:dPt>
            <c:idx val="3"/>
            <c:invertIfNegative val="0"/>
            <c:bubble3D val="0"/>
            <c:spPr>
              <a:solidFill>
                <a:srgbClr val="1F5FBF"/>
              </a:solidFill>
              <a:effectLst/>
            </c:spPr>
          </c:dPt>
          <c:dPt>
            <c:idx val="4"/>
            <c:invertIfNegative val="0"/>
            <c:bubble3D val="0"/>
            <c:spPr>
              <a:solidFill>
                <a:srgbClr val="1F5FBF"/>
              </a:solidFill>
              <a:effectLst/>
            </c:spPr>
          </c:dPt>
          <c:dPt>
            <c:idx val="5"/>
            <c:invertIfNegative val="0"/>
            <c:bubble3D val="0"/>
            <c:spPr>
              <a:solidFill>
                <a:srgbClr val="1F5FBF"/>
              </a:solidFill>
              <a:effectLst/>
            </c:spPr>
          </c:dPt>
          <c:cat>
            <c:multiLvlStrRef>
              <c:f>Sheet1!$A$2:$A$7</c:f>
              <c:multiLvlStrCache>
                <c:ptCount val="6"/>
                <c:lvl>
                  <c:pt idx="0">
                    <c:v>−10 %</c:v>
                  </c:pt>
                  <c:pt idx="1">
                    <c:v>0 %</c:v>
                  </c:pt>
                  <c:pt idx="2">
                    <c:v>3 %</c:v>
                  </c:pt>
                  <c:pt idx="3">
                    <c:v>5 %</c:v>
                  </c:pt>
                  <c:pt idx="4">
                    <c:v>10 %</c:v>
                  </c:pt>
                  <c:pt idx="5">
                    <c:v>20 %</c:v>
                  </c:pt>
                </c:lvl>
              </c:multiLvlStrCache>
            </c:multiLvlStrRef>
          </c:cat>
          <c:val>
            <c:numRef>
              <c:f>Sheet1!$B$2:$B$7</c:f>
              <c:numCache>
                <c:formatCode>General</c:formatCode>
                <c:ptCount val="6"/>
                <c:pt idx="0">
                  <c:v>-1550</c:v>
                </c:pt>
                <c:pt idx="1">
                  <c:v>-350</c:v>
                </c:pt>
                <c:pt idx="2">
                  <c:v>10</c:v>
                </c:pt>
                <c:pt idx="3">
                  <c:v>250</c:v>
                </c:pt>
                <c:pt idx="4">
                  <c:v>850</c:v>
                </c:pt>
                <c:pt idx="5">
                  <c:v>2050</c:v>
                </c:pt>
              </c:numCache>
            </c:numRef>
          </c:val>
        </c:ser>
        <c:dLbls>
          <c:numFmt formatCode="+#,##0&quot; €&quot;;-#,##0&quot; €&quot;;0&quot; €&quot;" sourceLinked="0"/>
          <c:txPr>
            <a:bodyPr/>
            <a:lstStyle/>
            <a:p>
              <a:pPr>
                <a:defRPr b="0" i="0" strike="noStrike" sz="1300" u="none">
                  <a:solidFill>
                    <a:srgbClr val="0B2E5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300" b="0" i="0" u="none" strike="noStrike">
                    <a:solidFill>
                      <a:srgbClr val="5B6B80"/>
                    </a:solidFill>
                    <a:latin typeface="+mn-lt"/>
                  </a:defRPr>
                </a:pPr>
                <a:r>
                  <a:rPr sz="1300" b="0" i="0" u="none" strike="noStrike">
                    <a:solidFill>
                      <a:srgbClr val="5B6B80"/>
                    </a:solidFill>
                    <a:latin typeface="+mn-lt"/>
                  </a:rPr>
                  <a:t>Gain de temps mesuré</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A3C"/>
                </a:solidFill>
                <a:latin typeface="+mn-lt"/>
              </a:defRPr>
            </a:pPr>
            <a:endParaRPr lang="en-US"/>
          </a:p>
        </c:txPr>
        <c:crossAx val="2094734552"/>
        <c:crosses val="autoZero"/>
        <c:auto val="1"/>
        <c:lblAlgn val="ctr"/>
        <c:noMultiLvlLbl val="1"/>
      </c:catAx>
      <c:valAx>
        <c:axId val="2094734552"/>
        <c:scaling>
          <c:orientation val="minMax"/>
          <c:max val="2500"/>
          <c:min val="-2000"/>
        </c:scaling>
        <c:delete val="0"/>
        <c:axPos val="l"/>
        <c:majorGridlines>
          <c:spPr>
            <a:ln w="6350" cap="flat">
              <a:solidFill>
                <a:srgbClr val="D6E0EC"/>
              </a:solidFill>
              <a:prstDash val="solid"/>
              <a:round/>
            </a:ln>
          </c:spPr>
        </c:majorGridlines>
        <c:numFmt formatCode="#,##0&quot; €&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4"/>
        <c:crosses val="autoZero"/>
        <c:crossBetween val="between"/>
        <c:majorUnit val="5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 : montrer ce que l'investissement dans l'IA rapporte à vos applications, et proposer de le vérifier sur vos propres tickets. Durée visée : 25 minutes, puis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tient en trois phrases, que la suite démontre une à une. La contrepartie est directe : chaque ticket livre du code, ses tests et ses preuves. Elle se mesure : sur vos tickets, contre un groupe témoin. Elle reste chez vous : tout est versionné dans vos dépôts. Et la décision reste la vôtre : un pilote avec une règle d'arrêt fixée avant de commencer.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chiffres publics, qui donnent raison à votre prudence. MIT NANDA, 2025 : 95 % des organisations n'ont aucun retour mesurable, pour 30 à 40 milliards de dollars dépensés. Gartner, juin 2025 : plus de 40 % des projets d'IA agentique seront abandonnés d'ici fin 2027, pour coûts croissants, valeur métier floue ou risques mal maîtrisés. METR, juillet 2025 : seize développeurs chevronnés, 246 tâches réelles ; avec l'IA ils ont mis 19 % de temps en plus, tout en estimant avoir gagné 20 %. Nuance honnête : l'étude porte sur des développeurs experts de leurs propres dépôts, avec les outils du début 2025, et METR a jugé en 2026 ses nouvelles données trop biaisées pour publier une mise à jour. À l'inverse, Peng et al. (2023) mesurent 55,8 % de gain sur une tâche bien bornée. Conclusion : l'effet dépend du contexte et de la méthode, et le ressenti ne suffit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Qu'ont en commun les rares projets qui créent de la valeur ? Le MIT répond : des systèmes qui apprennent, intégrés au travail réel ; la plupart des systèmes ne retiennent rien de leurs retours. DORA, le programme de recherche de Google Cloud, répond : l'IA amplifie ce qui existe ; elle accroît le débit, mais aussi l'instabilité si les pratiques ne suivent pas. Notre méthode répond à ces deux constats : une boucle de rétroaction sur chaque ticket, et des pratiques d'ingénierie qui encadrent 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DORA identifie sept capacités qui amplifient l'effet positif de l'IA. Pour chacune, voici ce que la méthode apporte concrètement. Le point clé : ce ne sont pas des promesses, ce sont des règles écrites et contrôlées, par exemple les hooks Git qui refusent un commit sans clé de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ici que se joue la différence avec une IA utilisée sans méthode. En haut, la chaîne habituelle : ticket, consigne, code, tests ; quand les tests passent, le ticket se ferme et rien ne revient. En bas, deux flèches reviennent. L'ordre 1 corrige le système : une mesure révèle un défaut, un commit le corrige. L'ordre 2 corrige la méthode : l'IA propose une règle nouvelle, et seule votre équipe peut la ratifier. Exemple : un ticket demande de charger des données au clic ; la mesure révèle une colonne filtrée sans index. Ordre 1 : on ajoute l'index. Ordre 2 : on propose de vérifier l'index de toute colonne filtrée ; si l'équipe ratifie, les tickets suivants en profitent. C'est la boucle d'apprentissage qui, selon le MIT, manque à la plupart des systèmes.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chaque ticket produit cinq livrables, et tous arrivent dans vos dépôts : la fiche de transformation, le code sur sa branche, les tests, chacun rattaché à un critère ou à un risque, le dossier de preuves, et les connaissances capitalisées. La valeur se lit sur deux familles d'indicateurs : aller plus vite, et faire mieux. Pour la seconde, chaque fiche consigne cinq indices entre 0 et 1 : qualité, maîtrise des risques, traçabilité, capitalisation, adaptabilité.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point décisif : ce que vous financez vous appartient et reste dans vos dépôts. Les invariants du projet, que seules vos équipes modifient. Une fiche par ticket, avec ses décisions et ses preuves. Les registres de ce que le projet a appris. Le code et les tests. Si l'équipe change, la connaissance reste. Et ce qui est générique, la méthode et les outils, ne contient aucune donnée de votre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risque reste du côté de vos équipes, là où est la responsabilité. Deux décisions humaines encadrent chaque ticket : la validation de la fiche avant toute modification, et la relecture avant de pousser et de fusionner. Les cinq règles ne se négocient pas ; elles sont écrites dans la méthode, et certaines sont vérifiées automatiquement, comme les hooks Git qui refusent un commit hors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lieu de promettre un gain, renversons la question : combien faut-il gagner pour être remboursé ? Avec des hypothèses prudentes, un coût horaire de 75 euros, une licence en offre entreprise à 50 euros, deux heures de supervision et quinze jours de mise en place amortis sur un an et cinq personnes, le coût est de 350 euros par développeur et par mois. Il est remboursé dès que chaque développeur gagne 4 heures 40 par mois, soit 2,9 % de son temps. Ces hypothèses sont à remplacer par les vôtres ; l'annexe C du document donne la formule. Et ce calcul ignore la qualité, la traçabilité et la capitalisation.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même modèle, pour plusieurs gains possibles. À moins 10 %, c'est-à-dire un ralentissement comme celui mesuré par METR, on perd 1 550 euros par développeur et par mois. À 3 %, on est à l'équilibre. À 10 %, la valeur nette atteint 850 euros. Le seuil est bas, mais rien ne garantit qu'on le franchisse chez vous. C'est pourquoi nous proposons de mesurer avant d'étendre.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protocole est simple et sans outil supplémentaire. Votre sprint sépare déjà des tickets IA et des tickets DEV ; pour le pilote, des tickets comparables sont répartis par tirage au sort, au moins dix de chaque côté, pour ne pas comparer des tickets choisis parce qu'ils semblaient faciles. Un évaluateur hors pilote, par exemple le PO, valide les mesures. Six indicateurs, lus dans Jira, GitLab et les fiches, comparés par médiane. Le ressenti n'entre pas dans le calcul : c'est la leçon de l'étude METR.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proposition : un pilote court, avec une règle de décision fixée avant de commencer. Une réunion de cadrage pour fixer les seuils, la liste des tickets et la règle. Deux à trois sprints, au moins dix tickets par groupe. Une mesure validée par un évaluateur indépendant. Puis la règle s'applique : continuer si le gain dépasse le seuil sans dégrader la qualité, ajuster s'il est positif mais insuffisant, arrêter s'il est nul ou négatif. Vous gardez la main à chaque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c'est un investissement dont la contrepartie est directe, mesurable, et qui reste chez vous. Nous ne vous demandons pas de nous croire sur parole : nous vous proposons de mesurer, avec une règle d'arrêt fixée avec vous. La décision attendue aujourd'hui : lancer le pilote.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qui veut le détail : les outils déjà construits, et ce que chacun apporte. La méthode s'applique à elle-même : ses treize spécifications et leurs 489 invariants sont vérifiés automatiquement à chaque modification.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sources sont publiques. Les chiffres du modèle de rentabilité, eux, sont des hypothèses à remplacer par les vôtres.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7498080" cy="1828800"/>
          </a:xfrm>
          <a:prstGeom prst="rect">
            <a:avLst/>
          </a:prstGeom>
          <a:noFill/>
          <a:ln/>
        </p:spPr>
        <p:txBody>
          <a:bodyPr wrap="square" rtlCol="0"/>
          <a:lstStyle>
            <a:lvl1pPr algn="l" indent="0" marL="0">
              <a:buNone/>
              <a:defRPr lang="en-US" sz="4800" b="1" dirty="0">
                <a:solidFill>
                  <a:schemeClr val="tx2"/>
                </a:solidFill>
              </a:defRPr>
            </a:lvl1pPr>
          </a:lstStyle>
          <a:p>
            <a:pPr algn="l" indent="0" marL="0">
              <a:buNone/>
            </a:pPr>
            <a:endParaRPr lang="en-US" sz="4800" dirty="0"/>
          </a:p>
        </p:txBody>
      </p:sp>
      <p:sp>
        <p:nvSpPr>
          <p:cNvPr id="3" name="Text 0"/>
          <p:cNvSpPr/>
          <p:nvPr>
            <p:ph idx="101" type="body" hasCustomPrompt="1"/>
          </p:nvPr>
        </p:nvSpPr>
        <p:spPr>
          <a:xfrm>
            <a:off x="731520" y="3520440"/>
            <a:ext cx="7223760" cy="146304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L'IA, un investissement mesurable</a:t>
            </a:r>
            <a:endParaRPr lang="en-US" sz="1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virtualizationreview.com/Articles/2025/08/19/MIT-Report-Finds-Most-AI-Business-Investments-Fail-Reveals-GenAI-Divide.aspx" TargetMode="External"/><Relationship Id="rId2" Type="http://schemas.openxmlformats.org/officeDocument/2006/relationships/hyperlink" Target="https://www.hpcwire.com/bigdatawire/this-just-in/gartner-predicts-over-40-of-agentic-ai-projects-will-be-canceled-by-end-of-2027/" TargetMode="External"/><Relationship Id="rId3" Type="http://schemas.openxmlformats.org/officeDocument/2006/relationships/hyperlink" Target="https://metr.org/blog/2025-07-10-early-2025-ai-experienced-os-dev-study/" TargetMode="External"/><Relationship Id="rId4" Type="http://schemas.openxmlformats.org/officeDocument/2006/relationships/hyperlink" Target="https://arxiv.org/abs/2302.06590" TargetMode="External"/><Relationship Id="rId5" Type="http://schemas.openxmlformats.org/officeDocument/2006/relationships/hyperlink" Target="https://cloud.google.com/blog/products/ai-machine-learning/announcing-the-2025-dora-report" TargetMode="External"/><Relationship Id="rId6" Type="http://schemas.openxmlformats.org/officeDocument/2006/relationships/hyperlink" Target="https://cloud.google.com/products/gemini/pricing" TargetMode="External"/><Relationship Id="rId7" Type="http://schemas.openxmlformats.org/officeDocument/2006/relationships/image" Target="../media/image-16-1.png"/><Relationship Id="rId8" Type="http://schemas.openxmlformats.org/officeDocument/2006/relationships/slideLayout" Target="../slideLayouts/slideLayout3.xml"/><Relationship Id="rId9"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7498080" cy="1828800"/>
          </a:xfrm>
          <a:prstGeom prst="rect">
            <a:avLst/>
          </a:prstGeom>
          <a:noFill/>
          <a:ln/>
        </p:spPr>
        <p:txBody>
          <a:bodyPr wrap="square" lIns="0" tIns="0" rIns="0" bIns="0" rtlCol="0" anchor="b"/>
          <a:lstStyle/>
          <a:p>
            <a:pPr algn="l" indent="0" marL="0">
              <a:buNone/>
            </a:pPr>
            <a:r>
              <a:rPr lang="en-US" sz="4800" b="1" dirty="0">
                <a:solidFill>
                  <a:schemeClr val="tx2"/>
                </a:solidFill>
              </a:rPr>
              <a:t>L'IA, un investissement mesurable</a:t>
            </a:r>
            <a:endParaRPr lang="en-US" sz="4800" dirty="0"/>
          </a:p>
        </p:txBody>
      </p:sp>
      <p:sp>
        <p:nvSpPr>
          <p:cNvPr id="3" name="Text 0"/>
          <p:cNvSpPr/>
          <p:nvPr>
            <p:ph idx="101" type="body" hasCustomPrompt="1"/>
          </p:nvPr>
        </p:nvSpPr>
        <p:spPr>
          <a:xfrm>
            <a:off x="731520" y="3520440"/>
            <a:ext cx="7223760" cy="1463040"/>
          </a:xfrm>
          <a:prstGeom prst="rect">
            <a:avLst/>
          </a:prstGeom>
          <a:noFill/>
          <a:ln/>
        </p:spPr>
        <p:txBody>
          <a:bodyPr wrap="square" lIns="0" tIns="0" rIns="0" bIns="0" rtlCol="0" anchor="t"/>
          <a:lstStyle/>
          <a:p>
            <a:pPr algn="l" indent="0" marL="0">
              <a:buNone/>
            </a:pPr>
            <a:r>
              <a:rPr lang="en-US" sz="2000" dirty="0">
                <a:solidFill>
                  <a:schemeClr val="accent6"/>
                </a:solidFill>
              </a:rPr>
              <a:t>Ce que vous financez dans le développement de vos applications, ce que vous en retirez, et comment le vérifier</a:t>
            </a:r>
            <a:endParaRPr lang="en-US" sz="2000" dirty="0"/>
          </a:p>
        </p:txBody>
      </p:sp>
      <p:sp>
        <p:nvSpPr>
          <p:cNvPr id="4" name="Halo"/>
          <p:cNvSpPr/>
          <p:nvPr/>
        </p:nvSpPr>
        <p:spPr>
          <a:xfrm>
            <a:off x="8458200" y="1325880"/>
            <a:ext cx="3383280" cy="3383280"/>
          </a:xfrm>
          <a:prstGeom prst="ellipse">
            <a:avLst/>
          </a:prstGeom>
          <a:solidFill>
            <a:schemeClr val="bg2"/>
          </a:solidFill>
          <a:ln/>
        </p:spPr>
      </p:sp>
      <p:sp>
        <p:nvSpPr>
          <p:cNvPr id="5" name="Balance (pastille)"/>
          <p:cNvSpPr/>
          <p:nvPr/>
        </p:nvSpPr>
        <p:spPr>
          <a:xfrm>
            <a:off x="8869680" y="1737360"/>
            <a:ext cx="2560320" cy="2560320"/>
          </a:xfrm>
          <a:prstGeom prst="ellipse">
            <a:avLst/>
          </a:prstGeom>
          <a:solidFill>
            <a:schemeClr val="accent1"/>
          </a:solidFill>
          <a:ln/>
        </p:spPr>
      </p:sp>
      <p:pic>
        <p:nvPicPr>
          <p:cNvPr id="6" name="Balance (icône)" descr="Une balance">    </p:cNvPr>
          <p:cNvPicPr>
            <a:picLocks noChangeAspect="1"/>
          </p:cNvPicPr>
          <p:nvPr/>
        </p:nvPicPr>
        <p:blipFill>
          <a:blip r:embed="rId1"/>
          <a:stretch>
            <a:fillRect/>
          </a:stretch>
        </p:blipFill>
        <p:spPr>
          <a:xfrm>
            <a:off x="9381744" y="2249424"/>
            <a:ext cx="1536192" cy="15361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Ce que vous financez vous revient</a:t>
            </a:r>
            <a:endParaRPr lang="en-US" sz="3600" dirty="0"/>
          </a:p>
        </p:txBody>
      </p:sp>
      <p:sp>
        <p:nvSpPr>
          <p:cNvPr id="3" name="Pilier 1"/>
          <p:cNvSpPr/>
          <p:nvPr/>
        </p:nvSpPr>
        <p:spPr>
          <a:xfrm>
            <a:off x="548640" y="1508760"/>
            <a:ext cx="3429000" cy="3246120"/>
          </a:xfrm>
          <a:prstGeom prst="roundRect">
            <a:avLst>
              <a:gd name="adj" fmla="val 3380"/>
            </a:avLst>
          </a:prstGeom>
          <a:solidFill>
            <a:schemeClr val="bg2"/>
          </a:solidFill>
          <a:ln/>
        </p:spPr>
      </p:sp>
      <p:sp>
        <p:nvSpPr>
          <p:cNvPr id="4" name="Pilier 1 (pastille)"/>
          <p:cNvSpPr/>
          <p:nvPr/>
        </p:nvSpPr>
        <p:spPr>
          <a:xfrm>
            <a:off x="868680" y="1828800"/>
            <a:ext cx="868680" cy="868680"/>
          </a:xfrm>
          <a:prstGeom prst="ellipse">
            <a:avLst/>
          </a:prstGeom>
          <a:solidFill>
            <a:schemeClr val="accent1"/>
          </a:solidFill>
          <a:ln/>
        </p:spPr>
      </p:sp>
      <p:pic>
        <p:nvPicPr>
          <p:cNvPr id="5" name="Pilier 1 (icône)" descr="La contrepartie est directe">    </p:cNvPr>
          <p:cNvPicPr>
            <a:picLocks noChangeAspect="1"/>
          </p:cNvPicPr>
          <p:nvPr/>
        </p:nvPicPr>
        <p:blipFill>
          <a:blip r:embed="rId1"/>
          <a:stretch>
            <a:fillRect/>
          </a:stretch>
        </p:blipFill>
        <p:spPr>
          <a:xfrm>
            <a:off x="1042416" y="2002536"/>
            <a:ext cx="521208" cy="521208"/>
          </a:xfrm>
          <a:prstGeom prst="rect">
            <a:avLst/>
          </a:prstGeom>
        </p:spPr>
      </p:pic>
      <p:sp>
        <p:nvSpPr>
          <p:cNvPr id="6" name="Text 3"/>
          <p:cNvSpPr txBox="1"/>
          <p:nvPr/>
        </p:nvSpPr>
        <p:spPr>
          <a:xfrm>
            <a:off x="868680" y="2834640"/>
            <a:ext cx="2788920" cy="731520"/>
          </a:xfrm>
          <a:prstGeom prst="rect">
            <a:avLst/>
          </a:prstGeom>
          <a:noFill/>
          <a:ln/>
        </p:spPr>
        <p:txBody>
          <a:bodyPr wrap="square" lIns="0" tIns="0" rIns="0" bIns="0" rtlCol="0" anchor="t"/>
          <a:lstStyle/>
          <a:p>
            <a:pPr indent="0" marL="0">
              <a:buNone/>
            </a:pPr>
            <a:r>
              <a:rPr lang="en-US" sz="2100" b="1" dirty="0">
                <a:solidFill>
                  <a:schemeClr val="tx2"/>
                </a:solidFill>
              </a:rPr>
              <a:t>La contrepartie est directe</a:t>
            </a:r>
            <a:endParaRPr lang="en-US" sz="2100" dirty="0"/>
          </a:p>
        </p:txBody>
      </p:sp>
      <p:sp>
        <p:nvSpPr>
          <p:cNvPr id="7" name="Text 4"/>
          <p:cNvSpPr txBox="1"/>
          <p:nvPr/>
        </p:nvSpPr>
        <p:spPr>
          <a:xfrm>
            <a:off x="868680" y="3611880"/>
            <a:ext cx="2788920" cy="1005840"/>
          </a:xfrm>
          <a:prstGeom prst="rect">
            <a:avLst/>
          </a:prstGeom>
          <a:noFill/>
          <a:ln/>
        </p:spPr>
        <p:txBody>
          <a:bodyPr wrap="square" lIns="0" tIns="0" rIns="0" bIns="0" rtlCol="0" anchor="t"/>
          <a:lstStyle/>
          <a:p>
            <a:pPr indent="0" marL="0">
              <a:buNone/>
            </a:pPr>
            <a:r>
              <a:rPr lang="en-US" sz="1600" dirty="0">
                <a:solidFill>
                  <a:schemeClr val="tx1"/>
                </a:solidFill>
              </a:rPr>
              <a:t>Chaque ticket livre son code, ses tests et ses preuves.</a:t>
            </a:r>
            <a:endParaRPr lang="en-US" sz="1600" dirty="0"/>
          </a:p>
        </p:txBody>
      </p:sp>
      <p:sp>
        <p:nvSpPr>
          <p:cNvPr id="8" name="Pilier 2"/>
          <p:cNvSpPr/>
          <p:nvPr/>
        </p:nvSpPr>
        <p:spPr>
          <a:xfrm>
            <a:off x="4366260" y="1508760"/>
            <a:ext cx="3429000" cy="3246120"/>
          </a:xfrm>
          <a:prstGeom prst="roundRect">
            <a:avLst>
              <a:gd name="adj" fmla="val 3380"/>
            </a:avLst>
          </a:prstGeom>
          <a:solidFill>
            <a:schemeClr val="bg2"/>
          </a:solidFill>
          <a:ln/>
        </p:spPr>
      </p:sp>
      <p:sp>
        <p:nvSpPr>
          <p:cNvPr id="9" name="Pilier 2 (pastille)"/>
          <p:cNvSpPr/>
          <p:nvPr/>
        </p:nvSpPr>
        <p:spPr>
          <a:xfrm>
            <a:off x="4686300" y="1828800"/>
            <a:ext cx="868680" cy="868680"/>
          </a:xfrm>
          <a:prstGeom prst="ellipse">
            <a:avLst/>
          </a:prstGeom>
          <a:solidFill>
            <a:schemeClr val="accent1"/>
          </a:solidFill>
          <a:ln/>
        </p:spPr>
      </p:sp>
      <p:pic>
        <p:nvPicPr>
          <p:cNvPr id="10" name="Pilier 2 (icône)" descr="Elle se mesure">    </p:cNvPr>
          <p:cNvPicPr>
            <a:picLocks noChangeAspect="1"/>
          </p:cNvPicPr>
          <p:nvPr/>
        </p:nvPicPr>
        <p:blipFill>
          <a:blip r:embed="rId2"/>
          <a:stretch>
            <a:fillRect/>
          </a:stretch>
        </p:blipFill>
        <p:spPr>
          <a:xfrm>
            <a:off x="4860036" y="2002536"/>
            <a:ext cx="521208" cy="521208"/>
          </a:xfrm>
          <a:prstGeom prst="rect">
            <a:avLst/>
          </a:prstGeom>
        </p:spPr>
      </p:pic>
      <p:sp>
        <p:nvSpPr>
          <p:cNvPr id="11" name="Text 7"/>
          <p:cNvSpPr txBox="1"/>
          <p:nvPr/>
        </p:nvSpPr>
        <p:spPr>
          <a:xfrm>
            <a:off x="4686300" y="2834640"/>
            <a:ext cx="2788920" cy="731520"/>
          </a:xfrm>
          <a:prstGeom prst="rect">
            <a:avLst/>
          </a:prstGeom>
          <a:noFill/>
          <a:ln/>
        </p:spPr>
        <p:txBody>
          <a:bodyPr wrap="square" lIns="0" tIns="0" rIns="0" bIns="0" rtlCol="0" anchor="t"/>
          <a:lstStyle/>
          <a:p>
            <a:pPr indent="0" marL="0">
              <a:buNone/>
            </a:pPr>
            <a:r>
              <a:rPr lang="en-US" sz="2100" b="1" dirty="0">
                <a:solidFill>
                  <a:schemeClr val="tx2"/>
                </a:solidFill>
              </a:rPr>
              <a:t>Elle se mesure</a:t>
            </a:r>
            <a:endParaRPr lang="en-US" sz="2100" dirty="0"/>
          </a:p>
        </p:txBody>
      </p:sp>
      <p:sp>
        <p:nvSpPr>
          <p:cNvPr id="12" name="Text 8"/>
          <p:cNvSpPr txBox="1"/>
          <p:nvPr/>
        </p:nvSpPr>
        <p:spPr>
          <a:xfrm>
            <a:off x="4686300" y="3611880"/>
            <a:ext cx="2788920" cy="1005840"/>
          </a:xfrm>
          <a:prstGeom prst="rect">
            <a:avLst/>
          </a:prstGeom>
          <a:noFill/>
          <a:ln/>
        </p:spPr>
        <p:txBody>
          <a:bodyPr wrap="square" lIns="0" tIns="0" rIns="0" bIns="0" rtlCol="0" anchor="t"/>
          <a:lstStyle/>
          <a:p>
            <a:pPr indent="0" marL="0">
              <a:buNone/>
            </a:pPr>
            <a:r>
              <a:rPr lang="en-US" sz="1600" dirty="0">
                <a:solidFill>
                  <a:schemeClr val="tx1"/>
                </a:solidFill>
              </a:rPr>
              <a:t>Sur vos tickets, contre un groupe témoin, et non sur des promesses.</a:t>
            </a:r>
            <a:endParaRPr lang="en-US" sz="1600" dirty="0"/>
          </a:p>
        </p:txBody>
      </p:sp>
      <p:sp>
        <p:nvSpPr>
          <p:cNvPr id="13" name="Pilier 3"/>
          <p:cNvSpPr/>
          <p:nvPr/>
        </p:nvSpPr>
        <p:spPr>
          <a:xfrm>
            <a:off x="8183880" y="1508760"/>
            <a:ext cx="3429000" cy="3246120"/>
          </a:xfrm>
          <a:prstGeom prst="roundRect">
            <a:avLst>
              <a:gd name="adj" fmla="val 3380"/>
            </a:avLst>
          </a:prstGeom>
          <a:solidFill>
            <a:schemeClr val="bg2"/>
          </a:solidFill>
          <a:ln/>
        </p:spPr>
      </p:sp>
      <p:sp>
        <p:nvSpPr>
          <p:cNvPr id="14" name="Pilier 3 (pastille)"/>
          <p:cNvSpPr/>
          <p:nvPr/>
        </p:nvSpPr>
        <p:spPr>
          <a:xfrm>
            <a:off x="8503920" y="1828800"/>
            <a:ext cx="868680" cy="868680"/>
          </a:xfrm>
          <a:prstGeom prst="ellipse">
            <a:avLst/>
          </a:prstGeom>
          <a:solidFill>
            <a:schemeClr val="accent1"/>
          </a:solidFill>
          <a:ln/>
        </p:spPr>
      </p:sp>
      <p:pic>
        <p:nvPicPr>
          <p:cNvPr id="15" name="Pilier 3 (icône)" descr="Elle reste chez vous">    </p:cNvPr>
          <p:cNvPicPr>
            <a:picLocks noChangeAspect="1"/>
          </p:cNvPicPr>
          <p:nvPr/>
        </p:nvPicPr>
        <p:blipFill>
          <a:blip r:embed="rId3"/>
          <a:stretch>
            <a:fillRect/>
          </a:stretch>
        </p:blipFill>
        <p:spPr>
          <a:xfrm>
            <a:off x="8677656" y="2002536"/>
            <a:ext cx="521208" cy="521208"/>
          </a:xfrm>
          <a:prstGeom prst="rect">
            <a:avLst/>
          </a:prstGeom>
        </p:spPr>
      </p:pic>
      <p:sp>
        <p:nvSpPr>
          <p:cNvPr id="16" name="Text 11"/>
          <p:cNvSpPr txBox="1"/>
          <p:nvPr/>
        </p:nvSpPr>
        <p:spPr>
          <a:xfrm>
            <a:off x="8503920" y="2834640"/>
            <a:ext cx="2788920" cy="731520"/>
          </a:xfrm>
          <a:prstGeom prst="rect">
            <a:avLst/>
          </a:prstGeom>
          <a:noFill/>
          <a:ln/>
        </p:spPr>
        <p:txBody>
          <a:bodyPr wrap="square" lIns="0" tIns="0" rIns="0" bIns="0" rtlCol="0" anchor="t"/>
          <a:lstStyle/>
          <a:p>
            <a:pPr indent="0" marL="0">
              <a:buNone/>
            </a:pPr>
            <a:r>
              <a:rPr lang="en-US" sz="2100" b="1" dirty="0">
                <a:solidFill>
                  <a:schemeClr val="tx2"/>
                </a:solidFill>
              </a:rPr>
              <a:t>Elle reste chez vous</a:t>
            </a:r>
            <a:endParaRPr lang="en-US" sz="2100" dirty="0"/>
          </a:p>
        </p:txBody>
      </p:sp>
      <p:sp>
        <p:nvSpPr>
          <p:cNvPr id="17" name="Text 12"/>
          <p:cNvSpPr txBox="1"/>
          <p:nvPr/>
        </p:nvSpPr>
        <p:spPr>
          <a:xfrm>
            <a:off x="8503920" y="3611880"/>
            <a:ext cx="2788920" cy="1005840"/>
          </a:xfrm>
          <a:prstGeom prst="rect">
            <a:avLst/>
          </a:prstGeom>
          <a:noFill/>
          <a:ln/>
        </p:spPr>
        <p:txBody>
          <a:bodyPr wrap="square" lIns="0" tIns="0" rIns="0" bIns="0" rtlCol="0" anchor="t"/>
          <a:lstStyle/>
          <a:p>
            <a:pPr indent="0" marL="0">
              <a:buNone/>
            </a:pPr>
            <a:r>
              <a:rPr lang="en-US" sz="1600" dirty="0">
                <a:solidFill>
                  <a:schemeClr val="tx1"/>
                </a:solidFill>
              </a:rPr>
              <a:t>Tests, fiches, registres et connaissances sont versionnés dans vos dépôts.</a:t>
            </a:r>
            <a:endParaRPr lang="en-US" sz="1600" dirty="0"/>
          </a:p>
        </p:txBody>
      </p:sp>
      <p:sp>
        <p:nvSpPr>
          <p:cNvPr id="18" name="Text 13"/>
          <p:cNvSpPr txBox="1"/>
          <p:nvPr/>
        </p:nvSpPr>
        <p:spPr>
          <a:xfrm>
            <a:off x="548640" y="5120640"/>
            <a:ext cx="11064240" cy="548640"/>
          </a:xfrm>
          <a:prstGeom prst="rect">
            <a:avLst/>
          </a:prstGeom>
          <a:noFill/>
          <a:ln/>
        </p:spPr>
        <p:txBody>
          <a:bodyPr wrap="square" lIns="0" tIns="0" rIns="0" bIns="0" rtlCol="0" anchor="ctr"/>
          <a:lstStyle/>
          <a:p>
            <a:pPr indent="0" marL="0">
              <a:buNone/>
            </a:pPr>
            <a:r>
              <a:rPr lang="en-US" sz="2000" b="1" dirty="0">
                <a:solidFill>
                  <a:schemeClr val="accent1"/>
                </a:solidFill>
              </a:rPr>
              <a:t>Et vous gardez la décision : un pilote mesuré, avec une règle d'arrêt fixée d'avance.</a:t>
            </a:r>
            <a:endParaRPr lang="en-US" sz="2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Votre prudence est fondée</a:t>
            </a:r>
            <a:endParaRPr lang="en-US" sz="3600" dirty="0"/>
          </a:p>
        </p:txBody>
      </p:sp>
      <p:sp>
        <p:nvSpPr>
          <p:cNvPr id="3" name="Text 1"/>
          <p:cNvSpPr txBox="1"/>
          <p:nvPr/>
        </p:nvSpPr>
        <p:spPr>
          <a:xfrm>
            <a:off x="548640" y="1371600"/>
            <a:ext cx="3429000" cy="105156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95 %</a:t>
            </a:r>
            <a:endParaRPr lang="en-US" sz="6600" dirty="0"/>
          </a:p>
        </p:txBody>
      </p:sp>
      <p:sp>
        <p:nvSpPr>
          <p:cNvPr id="4" name="Text 2"/>
          <p:cNvSpPr txBox="1"/>
          <p:nvPr/>
        </p:nvSpPr>
        <p:spPr>
          <a:xfrm>
            <a:off x="548640" y="2514600"/>
            <a:ext cx="3429000" cy="1188720"/>
          </a:xfrm>
          <a:prstGeom prst="rect">
            <a:avLst/>
          </a:prstGeom>
          <a:noFill/>
          <a:ln/>
        </p:spPr>
        <p:txBody>
          <a:bodyPr wrap="square" lIns="0" tIns="0" rIns="0" bIns="0" rtlCol="0" anchor="t"/>
          <a:lstStyle/>
          <a:p>
            <a:pPr indent="0" marL="0">
              <a:buNone/>
            </a:pPr>
            <a:r>
              <a:rPr lang="en-US" sz="1600" dirty="0">
                <a:solidFill>
                  <a:schemeClr val="tx1"/>
                </a:solidFill>
              </a:rPr>
              <a:t>des organisations ne tirent aucun retour mesurable de leurs projets d'IA générative</a:t>
            </a:r>
            <a:endParaRPr lang="en-US" sz="1600" dirty="0"/>
          </a:p>
        </p:txBody>
      </p:sp>
      <p:sp>
        <p:nvSpPr>
          <p:cNvPr id="5" name="Text 3"/>
          <p:cNvSpPr txBox="1"/>
          <p:nvPr/>
        </p:nvSpPr>
        <p:spPr>
          <a:xfrm>
            <a:off x="548640" y="3749040"/>
            <a:ext cx="3429000" cy="274320"/>
          </a:xfrm>
          <a:prstGeom prst="rect">
            <a:avLst/>
          </a:prstGeom>
          <a:noFill/>
          <a:ln/>
        </p:spPr>
        <p:txBody>
          <a:bodyPr wrap="square" lIns="0" tIns="0" rIns="0" bIns="0" rtlCol="0" anchor="t"/>
          <a:lstStyle/>
          <a:p>
            <a:pPr indent="0" marL="0">
              <a:buNone/>
            </a:pPr>
            <a:r>
              <a:rPr lang="en-US" sz="1100" dirty="0">
                <a:solidFill>
                  <a:schemeClr val="accent6"/>
                </a:solidFill>
              </a:rPr>
              <a:t>MIT NANDA, 2025</a:t>
            </a:r>
            <a:endParaRPr lang="en-US" sz="1100" dirty="0"/>
          </a:p>
        </p:txBody>
      </p:sp>
      <p:sp>
        <p:nvSpPr>
          <p:cNvPr id="6" name="Text 4"/>
          <p:cNvSpPr txBox="1"/>
          <p:nvPr/>
        </p:nvSpPr>
        <p:spPr>
          <a:xfrm>
            <a:off x="4366260" y="1371600"/>
            <a:ext cx="3429000" cy="105156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40 %</a:t>
            </a:r>
            <a:endParaRPr lang="en-US" sz="6600" dirty="0"/>
          </a:p>
        </p:txBody>
      </p:sp>
      <p:sp>
        <p:nvSpPr>
          <p:cNvPr id="7" name="Text 5"/>
          <p:cNvSpPr txBox="1"/>
          <p:nvPr/>
        </p:nvSpPr>
        <p:spPr>
          <a:xfrm>
            <a:off x="4366260" y="2514600"/>
            <a:ext cx="3429000" cy="1188720"/>
          </a:xfrm>
          <a:prstGeom prst="rect">
            <a:avLst/>
          </a:prstGeom>
          <a:noFill/>
          <a:ln/>
        </p:spPr>
        <p:txBody>
          <a:bodyPr wrap="square" lIns="0" tIns="0" rIns="0" bIns="0" rtlCol="0" anchor="t"/>
          <a:lstStyle/>
          <a:p>
            <a:pPr indent="0" marL="0">
              <a:buNone/>
            </a:pPr>
            <a:r>
              <a:rPr lang="en-US" sz="1600" dirty="0">
                <a:solidFill>
                  <a:schemeClr val="tx1"/>
                </a:solidFill>
              </a:rPr>
              <a:t>des projets d'IA agentique seront abandonnés d'ici fin 2027 : coûts, valeur floue, risques mal maîtrisés</a:t>
            </a:r>
            <a:endParaRPr lang="en-US" sz="1600" dirty="0"/>
          </a:p>
        </p:txBody>
      </p:sp>
      <p:sp>
        <p:nvSpPr>
          <p:cNvPr id="8" name="Text 6"/>
          <p:cNvSpPr txBox="1"/>
          <p:nvPr/>
        </p:nvSpPr>
        <p:spPr>
          <a:xfrm>
            <a:off x="4366260" y="3749040"/>
            <a:ext cx="3429000" cy="274320"/>
          </a:xfrm>
          <a:prstGeom prst="rect">
            <a:avLst/>
          </a:prstGeom>
          <a:noFill/>
          <a:ln/>
        </p:spPr>
        <p:txBody>
          <a:bodyPr wrap="square" lIns="0" tIns="0" rIns="0" bIns="0" rtlCol="0" anchor="t"/>
          <a:lstStyle/>
          <a:p>
            <a:pPr indent="0" marL="0">
              <a:buNone/>
            </a:pPr>
            <a:r>
              <a:rPr lang="en-US" sz="1100" dirty="0">
                <a:solidFill>
                  <a:schemeClr val="accent6"/>
                </a:solidFill>
              </a:rPr>
              <a:t>Gartner, 2025</a:t>
            </a:r>
            <a:endParaRPr lang="en-US" sz="1100" dirty="0"/>
          </a:p>
        </p:txBody>
      </p:sp>
      <p:sp>
        <p:nvSpPr>
          <p:cNvPr id="9" name="Text 7"/>
          <p:cNvSpPr txBox="1"/>
          <p:nvPr/>
        </p:nvSpPr>
        <p:spPr>
          <a:xfrm>
            <a:off x="8183880" y="1371600"/>
            <a:ext cx="3429000" cy="105156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19 %</a:t>
            </a:r>
            <a:endParaRPr lang="en-US" sz="6600" dirty="0"/>
          </a:p>
        </p:txBody>
      </p:sp>
      <p:sp>
        <p:nvSpPr>
          <p:cNvPr id="10" name="Text 8"/>
          <p:cNvSpPr txBox="1"/>
          <p:nvPr/>
        </p:nvSpPr>
        <p:spPr>
          <a:xfrm>
            <a:off x="8183880" y="2514600"/>
            <a:ext cx="3429000" cy="1188720"/>
          </a:xfrm>
          <a:prstGeom prst="rect">
            <a:avLst/>
          </a:prstGeom>
          <a:noFill/>
          <a:ln/>
        </p:spPr>
        <p:txBody>
          <a:bodyPr wrap="square" lIns="0" tIns="0" rIns="0" bIns="0" rtlCol="0" anchor="t"/>
          <a:lstStyle/>
          <a:p>
            <a:pPr indent="0" marL="0">
              <a:buNone/>
            </a:pPr>
            <a:r>
              <a:rPr lang="en-US" sz="1600" dirty="0">
                <a:solidFill>
                  <a:schemeClr val="tx1"/>
                </a:solidFill>
              </a:rPr>
              <a:t>de temps en plus avec l'IA pour des développeurs chevronnés, qui croyaient avoir gagné 20 %</a:t>
            </a:r>
            <a:endParaRPr lang="en-US" sz="1600" dirty="0"/>
          </a:p>
        </p:txBody>
      </p:sp>
      <p:sp>
        <p:nvSpPr>
          <p:cNvPr id="11" name="Text 9"/>
          <p:cNvSpPr txBox="1"/>
          <p:nvPr/>
        </p:nvSpPr>
        <p:spPr>
          <a:xfrm>
            <a:off x="8183880" y="3749040"/>
            <a:ext cx="3429000" cy="274320"/>
          </a:xfrm>
          <a:prstGeom prst="rect">
            <a:avLst/>
          </a:prstGeom>
          <a:noFill/>
          <a:ln/>
        </p:spPr>
        <p:txBody>
          <a:bodyPr wrap="square" lIns="0" tIns="0" rIns="0" bIns="0" rtlCol="0" anchor="t"/>
          <a:lstStyle/>
          <a:p>
            <a:pPr indent="0" marL="0">
              <a:buNone/>
            </a:pPr>
            <a:r>
              <a:rPr lang="en-US" sz="1100" dirty="0">
                <a:solidFill>
                  <a:schemeClr val="accent6"/>
                </a:solidFill>
              </a:rPr>
              <a:t>METR, 2025</a:t>
            </a:r>
            <a:endParaRPr lang="en-US" sz="1100" dirty="0"/>
          </a:p>
        </p:txBody>
      </p:sp>
      <p:sp>
        <p:nvSpPr>
          <p:cNvPr id="12" name="Conclusion du constat"/>
          <p:cNvSpPr/>
          <p:nvPr/>
        </p:nvSpPr>
        <p:spPr>
          <a:xfrm>
            <a:off x="548640" y="4343400"/>
            <a:ext cx="11064240" cy="1600200"/>
          </a:xfrm>
          <a:prstGeom prst="roundRect">
            <a:avLst>
              <a:gd name="adj" fmla="val 6857"/>
            </a:avLst>
          </a:prstGeom>
          <a:solidFill>
            <a:schemeClr val="bg2"/>
          </a:solidFill>
          <a:ln/>
        </p:spPr>
      </p:sp>
      <p:sp>
        <p:nvSpPr>
          <p:cNvPr id="13" name="Avertissement (pastille)"/>
          <p:cNvSpPr/>
          <p:nvPr/>
        </p:nvSpPr>
        <p:spPr>
          <a:xfrm>
            <a:off x="868680" y="4727448"/>
            <a:ext cx="822960" cy="822960"/>
          </a:xfrm>
          <a:prstGeom prst="ellipse">
            <a:avLst/>
          </a:prstGeom>
          <a:solidFill>
            <a:schemeClr val="accent2"/>
          </a:solidFill>
          <a:ln/>
        </p:spPr>
      </p:sp>
      <p:pic>
        <p:nvPicPr>
          <p:cNvPr id="14" name="Avertissement (icône)" descr="Avertissement">    </p:cNvPr>
          <p:cNvPicPr>
            <a:picLocks noChangeAspect="1"/>
          </p:cNvPicPr>
          <p:nvPr/>
        </p:nvPicPr>
        <p:blipFill>
          <a:blip r:embed="rId1"/>
          <a:stretch>
            <a:fillRect/>
          </a:stretch>
        </p:blipFill>
        <p:spPr>
          <a:xfrm>
            <a:off x="1033272" y="4892040"/>
            <a:ext cx="493776" cy="493776"/>
          </a:xfrm>
          <a:prstGeom prst="rect">
            <a:avLst/>
          </a:prstGeom>
        </p:spPr>
      </p:pic>
      <p:sp>
        <p:nvSpPr>
          <p:cNvPr id="15" name="Text 12"/>
          <p:cNvSpPr txBox="1"/>
          <p:nvPr/>
        </p:nvSpPr>
        <p:spPr>
          <a:xfrm>
            <a:off x="1965960" y="4480560"/>
            <a:ext cx="9418320" cy="1325880"/>
          </a:xfrm>
          <a:prstGeom prst="rect">
            <a:avLst/>
          </a:prstGeom>
          <a:noFill/>
          <a:ln/>
        </p:spPr>
        <p:txBody>
          <a:bodyPr wrap="square" lIns="0" tIns="0" rIns="0" bIns="0" rtlCol="0" anchor="ctr"/>
          <a:lstStyle/>
          <a:p>
            <a:pPr indent="0" marL="0">
              <a:spcAft>
                <a:spcPts val="600"/>
              </a:spcAft>
              <a:buNone/>
            </a:pPr>
            <a:r>
              <a:rPr lang="en-US" sz="1900" b="1" dirty="0">
                <a:solidFill>
                  <a:schemeClr val="tx2"/>
                </a:solidFill>
              </a:rPr>
              <a:t>Sans méthode, l'IA est un coût, et le ressenti ne prédit pas le résultat : il faut mesurer.</a:t>
            </a:r>
            <a:endParaRPr lang="en-US" sz="1900" dirty="0"/>
          </a:p>
          <a:p>
            <a:pPr indent="0" marL="0">
              <a:buNone/>
            </a:pPr>
            <a:r>
              <a:rPr lang="en-US" sz="1500" dirty="0">
                <a:solidFill>
                  <a:schemeClr val="tx1"/>
                </a:solidFill>
              </a:rPr>
              <a:t>À l'inverse, sur une tâche bien bornée, des développeurs équipés d'un assistant ont fini 55,8 % plus vite (Peng et al., 2023) : tout dépend du contexte et de la méthode.</a:t>
            </a:r>
            <a:endParaRPr lang="en-US" sz="19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Ce qui fait la différence</a:t>
            </a:r>
            <a:endParaRPr lang="en-US" sz="3600" dirty="0"/>
          </a:p>
        </p:txBody>
      </p:sp>
      <p:sp>
        <p:nvSpPr>
          <p:cNvPr id="3" name="Constat 1"/>
          <p:cNvSpPr/>
          <p:nvPr/>
        </p:nvSpPr>
        <p:spPr>
          <a:xfrm>
            <a:off x="548640" y="1417320"/>
            <a:ext cx="5394960" cy="3520440"/>
          </a:xfrm>
          <a:prstGeom prst="roundRect">
            <a:avLst>
              <a:gd name="adj" fmla="val 3117"/>
            </a:avLst>
          </a:prstGeom>
          <a:solidFill>
            <a:schemeClr val="bg2"/>
          </a:solidFill>
          <a:ln/>
        </p:spPr>
      </p:sp>
      <p:sp>
        <p:nvSpPr>
          <p:cNvPr id="4" name="Constat 1 (pastille)"/>
          <p:cNvSpPr/>
          <p:nvPr/>
        </p:nvSpPr>
        <p:spPr>
          <a:xfrm>
            <a:off x="868680" y="1691640"/>
            <a:ext cx="777240" cy="777240"/>
          </a:xfrm>
          <a:prstGeom prst="ellipse">
            <a:avLst/>
          </a:prstGeom>
          <a:solidFill>
            <a:schemeClr val="accent1"/>
          </a:solidFill>
          <a:ln/>
        </p:spPr>
      </p:sp>
      <p:pic>
        <p:nvPicPr>
          <p:cNvPr id="5" name="Constat 1 (icône)" descr="Des systèmes qui apprennent">    </p:cNvPr>
          <p:cNvPicPr>
            <a:picLocks noChangeAspect="1"/>
          </p:cNvPicPr>
          <p:nvPr/>
        </p:nvPicPr>
        <p:blipFill>
          <a:blip r:embed="rId1"/>
          <a:stretch>
            <a:fillRect/>
          </a:stretch>
        </p:blipFill>
        <p:spPr>
          <a:xfrm>
            <a:off x="1024128" y="1847088"/>
            <a:ext cx="466344" cy="466344"/>
          </a:xfrm>
          <a:prstGeom prst="rect">
            <a:avLst/>
          </a:prstGeom>
        </p:spPr>
      </p:pic>
      <p:sp>
        <p:nvSpPr>
          <p:cNvPr id="6" name="Text 3"/>
          <p:cNvSpPr txBox="1"/>
          <p:nvPr/>
        </p:nvSpPr>
        <p:spPr>
          <a:xfrm>
            <a:off x="1828800" y="1691640"/>
            <a:ext cx="3840480" cy="777240"/>
          </a:xfrm>
          <a:prstGeom prst="rect">
            <a:avLst/>
          </a:prstGeom>
          <a:noFill/>
          <a:ln/>
        </p:spPr>
        <p:txBody>
          <a:bodyPr wrap="square" lIns="0" tIns="0" rIns="0" bIns="0" rtlCol="0" anchor="ctr"/>
          <a:lstStyle/>
          <a:p>
            <a:pPr indent="0" marL="0">
              <a:buNone/>
            </a:pPr>
            <a:r>
              <a:rPr lang="en-US" sz="2200" b="1" dirty="0">
                <a:solidFill>
                  <a:schemeClr val="tx2"/>
                </a:solidFill>
              </a:rPr>
              <a:t>Des systèmes qui apprennent</a:t>
            </a:r>
            <a:endParaRPr lang="en-US" sz="2200" dirty="0"/>
          </a:p>
        </p:txBody>
      </p:sp>
      <p:sp>
        <p:nvSpPr>
          <p:cNvPr id="7" name="Text 4"/>
          <p:cNvSpPr txBox="1"/>
          <p:nvPr/>
        </p:nvSpPr>
        <p:spPr>
          <a:xfrm>
            <a:off x="868680" y="2697480"/>
            <a:ext cx="4754880" cy="1691640"/>
          </a:xfrm>
          <a:prstGeom prst="rect">
            <a:avLst/>
          </a:prstGeom>
          <a:noFill/>
          <a:ln/>
        </p:spPr>
        <p:txBody>
          <a:bodyPr wrap="square" lIns="0" tIns="0" rIns="0" bIns="0" rtlCol="0" anchor="t"/>
          <a:lstStyle/>
          <a:p>
            <a:pPr indent="0" marL="0">
              <a:buNone/>
            </a:pPr>
            <a:r>
              <a:rPr lang="en-US" sz="1600" dirty="0">
                <a:solidFill>
                  <a:schemeClr val="tx1"/>
                </a:solidFill>
              </a:rPr>
              <a:t>Le premier obstacle n'est ni l'infrastructure, ni la réglementation, ni les compétences : la plupart des systèmes « ne retiennent pas les retours, ne s'adaptent pas au contexte et ne s'améliorent pas avec le temps ».</a:t>
            </a:r>
            <a:endParaRPr lang="en-US" sz="1600" dirty="0"/>
          </a:p>
        </p:txBody>
      </p:sp>
      <p:sp>
        <p:nvSpPr>
          <p:cNvPr id="8" name="Text 5"/>
          <p:cNvSpPr txBox="1"/>
          <p:nvPr/>
        </p:nvSpPr>
        <p:spPr>
          <a:xfrm>
            <a:off x="868680" y="4480560"/>
            <a:ext cx="4754880" cy="274320"/>
          </a:xfrm>
          <a:prstGeom prst="rect">
            <a:avLst/>
          </a:prstGeom>
          <a:noFill/>
          <a:ln/>
        </p:spPr>
        <p:txBody>
          <a:bodyPr wrap="square" lIns="0" tIns="0" rIns="0" bIns="0" rtlCol="0" anchor="t"/>
          <a:lstStyle/>
          <a:p>
            <a:pPr indent="0" marL="0">
              <a:buNone/>
            </a:pPr>
            <a:r>
              <a:rPr lang="en-US" sz="1100" dirty="0">
                <a:solidFill>
                  <a:schemeClr val="accent6"/>
                </a:solidFill>
              </a:rPr>
              <a:t>MIT NANDA, The GenAI Divide, 2025</a:t>
            </a:r>
            <a:endParaRPr lang="en-US" sz="1100" dirty="0"/>
          </a:p>
        </p:txBody>
      </p:sp>
      <p:sp>
        <p:nvSpPr>
          <p:cNvPr id="9" name="Constat 2"/>
          <p:cNvSpPr/>
          <p:nvPr/>
        </p:nvSpPr>
        <p:spPr>
          <a:xfrm>
            <a:off x="6217920" y="1417320"/>
            <a:ext cx="5394960" cy="3520440"/>
          </a:xfrm>
          <a:prstGeom prst="roundRect">
            <a:avLst>
              <a:gd name="adj" fmla="val 3117"/>
            </a:avLst>
          </a:prstGeom>
          <a:solidFill>
            <a:schemeClr val="bg2"/>
          </a:solidFill>
          <a:ln/>
        </p:spPr>
      </p:sp>
      <p:sp>
        <p:nvSpPr>
          <p:cNvPr id="10" name="Constat 2 (pastille)"/>
          <p:cNvSpPr/>
          <p:nvPr/>
        </p:nvSpPr>
        <p:spPr>
          <a:xfrm>
            <a:off x="6537960" y="1691640"/>
            <a:ext cx="777240" cy="777240"/>
          </a:xfrm>
          <a:prstGeom prst="ellipse">
            <a:avLst/>
          </a:prstGeom>
          <a:solidFill>
            <a:schemeClr val="accent1"/>
          </a:solidFill>
          <a:ln/>
        </p:spPr>
      </p:sp>
      <p:pic>
        <p:nvPicPr>
          <p:cNvPr id="11" name="Constat 2 (icône)" descr="Une IA qui amplifie l'existant">    </p:cNvPr>
          <p:cNvPicPr>
            <a:picLocks noChangeAspect="1"/>
          </p:cNvPicPr>
          <p:nvPr/>
        </p:nvPicPr>
        <p:blipFill>
          <a:blip r:embed="rId2"/>
          <a:stretch>
            <a:fillRect/>
          </a:stretch>
        </p:blipFill>
        <p:spPr>
          <a:xfrm>
            <a:off x="6693408" y="1847088"/>
            <a:ext cx="466344" cy="466344"/>
          </a:xfrm>
          <a:prstGeom prst="rect">
            <a:avLst/>
          </a:prstGeom>
        </p:spPr>
      </p:pic>
      <p:sp>
        <p:nvSpPr>
          <p:cNvPr id="12" name="Text 8"/>
          <p:cNvSpPr txBox="1"/>
          <p:nvPr/>
        </p:nvSpPr>
        <p:spPr>
          <a:xfrm>
            <a:off x="7498080" y="1691640"/>
            <a:ext cx="3840480" cy="777240"/>
          </a:xfrm>
          <a:prstGeom prst="rect">
            <a:avLst/>
          </a:prstGeom>
          <a:noFill/>
          <a:ln/>
        </p:spPr>
        <p:txBody>
          <a:bodyPr wrap="square" lIns="0" tIns="0" rIns="0" bIns="0" rtlCol="0" anchor="ctr"/>
          <a:lstStyle/>
          <a:p>
            <a:pPr indent="0" marL="0">
              <a:buNone/>
            </a:pPr>
            <a:r>
              <a:rPr lang="en-US" sz="2200" b="1" dirty="0">
                <a:solidFill>
                  <a:schemeClr val="tx2"/>
                </a:solidFill>
              </a:rPr>
              <a:t>Une IA qui amplifie l'existant</a:t>
            </a:r>
            <a:endParaRPr lang="en-US" sz="2200" dirty="0"/>
          </a:p>
        </p:txBody>
      </p:sp>
      <p:sp>
        <p:nvSpPr>
          <p:cNvPr id="13" name="Text 9"/>
          <p:cNvSpPr txBox="1"/>
          <p:nvPr/>
        </p:nvSpPr>
        <p:spPr>
          <a:xfrm>
            <a:off x="6537960" y="2697480"/>
            <a:ext cx="4754880" cy="1691640"/>
          </a:xfrm>
          <a:prstGeom prst="rect">
            <a:avLst/>
          </a:prstGeom>
          <a:noFill/>
          <a:ln/>
        </p:spPr>
        <p:txBody>
          <a:bodyPr wrap="square" lIns="0" tIns="0" rIns="0" bIns="0" rtlCol="0" anchor="t"/>
          <a:lstStyle/>
          <a:p>
            <a:pPr indent="0" marL="0">
              <a:buNone/>
            </a:pPr>
            <a:r>
              <a:rPr lang="en-US" sz="1600" dirty="0">
                <a:solidFill>
                  <a:schemeClr val="tx1"/>
                </a:solidFill>
              </a:rPr>
              <a:t>« L'IA ne répare pas une équipe : elle amplifie ce qui existe déjà. » Son adoption accroît le débit de livraison, mais aussi l'instabilité quand les pratiques ne suivent pas.</a:t>
            </a:r>
            <a:endParaRPr lang="en-US" sz="1600" dirty="0"/>
          </a:p>
        </p:txBody>
      </p:sp>
      <p:sp>
        <p:nvSpPr>
          <p:cNvPr id="14" name="Text 10"/>
          <p:cNvSpPr txBox="1"/>
          <p:nvPr/>
        </p:nvSpPr>
        <p:spPr>
          <a:xfrm>
            <a:off x="6537960" y="4480560"/>
            <a:ext cx="4754880" cy="274320"/>
          </a:xfrm>
          <a:prstGeom prst="rect">
            <a:avLst/>
          </a:prstGeom>
          <a:noFill/>
          <a:ln/>
        </p:spPr>
        <p:txBody>
          <a:bodyPr wrap="square" lIns="0" tIns="0" rIns="0" bIns="0" rtlCol="0" anchor="t"/>
          <a:lstStyle/>
          <a:p>
            <a:pPr indent="0" marL="0">
              <a:buNone/>
            </a:pPr>
            <a:r>
              <a:rPr lang="en-US" sz="1100" dirty="0">
                <a:solidFill>
                  <a:schemeClr val="accent6"/>
                </a:solidFill>
              </a:rPr>
              <a:t>DORA, Google Cloud, 2025 ; 90 % des professionnels du logiciel utilisent l'IA</a:t>
            </a:r>
            <a:endParaRPr lang="en-US" sz="1100" dirty="0"/>
          </a:p>
        </p:txBody>
      </p:sp>
      <p:sp>
        <p:nvSpPr>
          <p:cNvPr id="15" name="Conclusion (pastille)"/>
          <p:cNvSpPr/>
          <p:nvPr/>
        </p:nvSpPr>
        <p:spPr>
          <a:xfrm>
            <a:off x="548640" y="5257800"/>
            <a:ext cx="685800" cy="685800"/>
          </a:xfrm>
          <a:prstGeom prst="ellipse">
            <a:avLst/>
          </a:prstGeom>
          <a:solidFill>
            <a:schemeClr val="accent2"/>
          </a:solidFill>
          <a:ln/>
        </p:spPr>
      </p:sp>
      <p:pic>
        <p:nvPicPr>
          <p:cNvPr id="16" name="Conclusion (icône)" descr="Cible">    </p:cNvPr>
          <p:cNvPicPr>
            <a:picLocks noChangeAspect="1"/>
          </p:cNvPicPr>
          <p:nvPr/>
        </p:nvPicPr>
        <p:blipFill>
          <a:blip r:embed="rId3"/>
          <a:stretch>
            <a:fillRect/>
          </a:stretch>
        </p:blipFill>
        <p:spPr>
          <a:xfrm>
            <a:off x="685800" y="5394960"/>
            <a:ext cx="411480" cy="411480"/>
          </a:xfrm>
          <a:prstGeom prst="rect">
            <a:avLst/>
          </a:prstGeom>
        </p:spPr>
      </p:pic>
      <p:sp>
        <p:nvSpPr>
          <p:cNvPr id="17" name="Text 12"/>
          <p:cNvSpPr txBox="1"/>
          <p:nvPr/>
        </p:nvSpPr>
        <p:spPr>
          <a:xfrm>
            <a:off x="1463040" y="5166360"/>
            <a:ext cx="10149840" cy="868680"/>
          </a:xfrm>
          <a:prstGeom prst="rect">
            <a:avLst/>
          </a:prstGeom>
          <a:noFill/>
          <a:ln/>
        </p:spPr>
        <p:txBody>
          <a:bodyPr wrap="square" lIns="0" tIns="0" rIns="0" bIns="0" rtlCol="0" anchor="ctr"/>
          <a:lstStyle/>
          <a:p>
            <a:pPr indent="0" marL="0">
              <a:buNone/>
            </a:pPr>
            <a:r>
              <a:rPr lang="en-US" sz="1800" b="1" dirty="0">
                <a:solidFill>
                  <a:schemeClr val="tx2"/>
                </a:solidFill>
              </a:rPr>
              <a:t>Notre méthode est bâtie sur ces deux constats : une boucle qui apprend de chaque ticket, et des pratiques qui amplifient le bon.</a:t>
            </a:r>
            <a:endParaRPr lang="en-US" sz="18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Les sept capacités qui amplifient l'IA</a:t>
            </a:r>
            <a:endParaRPr lang="en-US" sz="3600" dirty="0"/>
          </a:p>
        </p:txBody>
      </p:sp>
      <p:graphicFrame>
        <p:nvGraphicFramePr>
          <p:cNvPr id="6" name="Capacités DORA"/>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023360"/>
                <a:gridCol w="7040880"/>
              </a:tblGrid>
              <a:tr h="530352">
                <a:tc>
                  <a:txBody>
                    <a:bodyPr/>
                    <a:lstStyle/>
                    <a:p>
                      <a:pPr indent="0" marL="0">
                        <a:buNone/>
                      </a:pPr>
                      <a:r>
                        <a:rPr lang="en-US" sz="1400" b="1" dirty="0">
                          <a:solidFill>
                            <a:schemeClr val="bg1"/>
                          </a:solidFill>
                        </a:rPr>
                        <a:t>Capacité (DORA 2025)</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Ce que notre méthode y apporte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r>
              <a:tr h="530352">
                <a:tc>
                  <a:txBody>
                    <a:bodyPr/>
                    <a:lstStyle/>
                    <a:p>
                      <a:pPr indent="0" marL="0">
                        <a:buNone/>
                      </a:pPr>
                      <a:r>
                        <a:rPr lang="en-US" sz="1400" dirty="0">
                          <a:solidFill>
                            <a:schemeClr val="tx1"/>
                          </a:solidFill>
                        </a:rPr>
                        <a:t>Une position claire et communiquée sur l'IA</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L'IA propose, vos équipes valident ; elle ne pousse ni ne fusionne jamais.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530352">
                <a:tc>
                  <a:txBody>
                    <a:bodyPr/>
                    <a:lstStyle/>
                    <a:p>
                      <a:pPr indent="0" marL="0">
                        <a:buNone/>
                      </a:pPr>
                      <a:r>
                        <a:rPr lang="en-US" sz="1400" dirty="0">
                          <a:solidFill>
                            <a:schemeClr val="tx1"/>
                          </a:solidFill>
                        </a:rPr>
                        <a:t>Des écosystèmes de données sains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Registres du projet au format défini, et versionnés.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530352">
                <a:tc>
                  <a:txBody>
                    <a:bodyPr/>
                    <a:lstStyle/>
                    <a:p>
                      <a:pPr indent="0" marL="0">
                        <a:buNone/>
                      </a:pPr>
                      <a:r>
                        <a:rPr lang="en-US" sz="1400" dirty="0">
                          <a:solidFill>
                            <a:schemeClr val="tx1"/>
                          </a:solidFill>
                        </a:rPr>
                        <a:t>Des données internes accessibles à l'IA</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Mémoire du code et des branches, tickets du sprint, invariants du projet.</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530352">
                <a:tc>
                  <a:txBody>
                    <a:bodyPr/>
                    <a:lstStyle/>
                    <a:p>
                      <a:pPr indent="0" marL="0">
                        <a:buNone/>
                      </a:pPr>
                      <a:r>
                        <a:rPr lang="en-US" sz="1400" dirty="0">
                          <a:solidFill>
                            <a:schemeClr val="tx1"/>
                          </a:solidFill>
                        </a:rPr>
                        <a:t>Une gestion de versions rigoureuse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Une branche par ticket, commits préfixés par la clé, hooks qui refusent les écarts.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530352">
                <a:tc>
                  <a:txBody>
                    <a:bodyPr/>
                    <a:lstStyle/>
                    <a:p>
                      <a:pPr indent="0" marL="0">
                        <a:buNone/>
                      </a:pPr>
                      <a:r>
                        <a:rPr lang="en-US" sz="1400" dirty="0">
                          <a:solidFill>
                            <a:schemeClr val="tx1"/>
                          </a:solidFill>
                        </a:rPr>
                        <a:t>Le travail en petits lots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Un commit par couche, une porte de contrôle à chaque niveau.</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530352">
                <a:tc>
                  <a:txBody>
                    <a:bodyPr/>
                    <a:lstStyle/>
                    <a:p>
                      <a:pPr indent="0" marL="0">
                        <a:buNone/>
                      </a:pPr>
                      <a:r>
                        <a:rPr lang="en-US" sz="1400" dirty="0">
                          <a:solidFill>
                            <a:schemeClr val="tx1"/>
                          </a:solidFill>
                        </a:rPr>
                        <a:t>Une orientation utilisateur</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Chaque critère d'acceptation prouvé par un test ; accessibilité dans le socle.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530352">
                <a:tc>
                  <a:txBody>
                    <a:bodyPr/>
                    <a:lstStyle/>
                    <a:p>
                      <a:pPr indent="0" marL="0">
                        <a:buNone/>
                      </a:pPr>
                      <a:r>
                        <a:rPr lang="en-US" sz="1400" dirty="0">
                          <a:solidFill>
                            <a:schemeClr val="tx1"/>
                          </a:solidFill>
                        </a:rPr>
                        <a:t>Des plateformes internes de qualité</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Socle commun back-front ; règles de la méthode vérifiées automatiquement.</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760720"/>
            <a:ext cx="11064240" cy="274320"/>
          </a:xfrm>
          <a:prstGeom prst="rect">
            <a:avLst/>
          </a:prstGeom>
          <a:noFill/>
          <a:ln/>
        </p:spPr>
        <p:txBody>
          <a:bodyPr wrap="square" lIns="0" tIns="0" rIns="0" bIns="0" rtlCol="0" anchor="ctr"/>
          <a:lstStyle/>
          <a:p>
            <a:pPr indent="0" marL="0">
              <a:buNone/>
            </a:pPr>
            <a:r>
              <a:rPr lang="en-US" sz="1100" dirty="0">
                <a:solidFill>
                  <a:schemeClr val="accent6"/>
                </a:solidFill>
              </a:rPr>
              <a:t>Source : DORA, State of AI-assisted Software Development, 2025.</a:t>
            </a:r>
            <a:endParaRPr lang="en-US" sz="1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Ce qui change dans un ticket</a:t>
            </a:r>
            <a:endParaRPr lang="en-US" sz="3600" dirty="0"/>
          </a:p>
        </p:txBody>
      </p:sp>
      <p:sp>
        <p:nvSpPr>
          <p:cNvPr id="3" name="Text 1"/>
          <p:cNvSpPr txBox="1"/>
          <p:nvPr/>
        </p:nvSpPr>
        <p:spPr>
          <a:xfrm>
            <a:off x="548640" y="1280160"/>
            <a:ext cx="7315200" cy="320040"/>
          </a:xfrm>
          <a:prstGeom prst="rect">
            <a:avLst/>
          </a:prstGeom>
          <a:noFill/>
          <a:ln/>
        </p:spPr>
        <p:txBody>
          <a:bodyPr wrap="square" lIns="0" tIns="0" rIns="0" bIns="0" rtlCol="0" anchor="ctr"/>
          <a:lstStyle/>
          <a:p>
            <a:pPr indent="0" marL="0">
              <a:buNone/>
            </a:pPr>
            <a:r>
              <a:rPr lang="en-US" sz="1400" b="1" dirty="0">
                <a:solidFill>
                  <a:schemeClr val="accent6"/>
                </a:solidFill>
              </a:rPr>
              <a:t>Sans méthode : boucle ouverte, rien ne revient</a:t>
            </a:r>
            <a:endParaRPr lang="en-US" sz="1400" dirty="0"/>
          </a:p>
        </p:txBody>
      </p:sp>
      <p:sp>
        <p:nvSpPr>
          <p:cNvPr id="4" name="Avant 1"/>
          <p:cNvSpPr txBox="1"/>
          <p:nvPr/>
        </p:nvSpPr>
        <p:spPr>
          <a:xfrm>
            <a:off x="548640" y="1691640"/>
            <a:ext cx="2103120" cy="685800"/>
          </a:xfrm>
          <a:prstGeom prst="roundRect">
            <a:avLst>
              <a:gd name="adj" fmla="val 13333"/>
            </a:avLst>
          </a:prstGeom>
          <a:solidFill>
            <a:schemeClr val="bg2"/>
          </a:solidFill>
          <a:ln/>
        </p:spPr>
        <p:txBody>
          <a:bodyPr wrap="square" lIns="1016" tIns="1016" rIns="1016" bIns="1016" rtlCol="0" anchor="ctr"/>
          <a:lstStyle/>
          <a:p>
            <a:pPr algn="ctr" indent="0" marL="0">
              <a:buNone/>
            </a:pPr>
            <a:r>
              <a:rPr lang="en-US" sz="1500" dirty="0">
                <a:solidFill>
                  <a:schemeClr val="tx1"/>
                </a:solidFill>
              </a:rPr>
              <a:t>Ticket</a:t>
            </a:r>
            <a:endParaRPr lang="en-US" sz="1500" dirty="0"/>
          </a:p>
        </p:txBody>
      </p:sp>
      <p:sp>
        <p:nvSpPr>
          <p:cNvPr id="5" name="Avant flèche 1"/>
          <p:cNvSpPr/>
          <p:nvPr/>
        </p:nvSpPr>
        <p:spPr>
          <a:xfrm>
            <a:off x="2651760" y="2034540"/>
            <a:ext cx="502920" cy="0"/>
          </a:xfrm>
          <a:prstGeom prst="line">
            <a:avLst/>
          </a:prstGeom>
          <a:noFill/>
          <a:ln w="22225">
            <a:solidFill>
              <a:schemeClr val="accent5"/>
            </a:solidFill>
            <a:prstDash val="solid"/>
            <a:tailEnd type="triangle"/>
          </a:ln>
        </p:spPr>
      </p:sp>
      <p:sp>
        <p:nvSpPr>
          <p:cNvPr id="6" name="Avant 2"/>
          <p:cNvSpPr txBox="1"/>
          <p:nvPr/>
        </p:nvSpPr>
        <p:spPr>
          <a:xfrm>
            <a:off x="3154680" y="1691640"/>
            <a:ext cx="2103120" cy="685800"/>
          </a:xfrm>
          <a:prstGeom prst="roundRect">
            <a:avLst>
              <a:gd name="adj" fmla="val 13333"/>
            </a:avLst>
          </a:prstGeom>
          <a:solidFill>
            <a:schemeClr val="bg2"/>
          </a:solidFill>
          <a:ln/>
        </p:spPr>
        <p:txBody>
          <a:bodyPr wrap="square" lIns="1016" tIns="1016" rIns="1016" bIns="1016" rtlCol="0" anchor="ctr"/>
          <a:lstStyle/>
          <a:p>
            <a:pPr algn="ctr" indent="0" marL="0">
              <a:buNone/>
            </a:pPr>
            <a:r>
              <a:rPr lang="en-US" sz="1500" dirty="0">
                <a:solidFill>
                  <a:schemeClr val="tx1"/>
                </a:solidFill>
              </a:rPr>
              <a:t>Consigne</a:t>
            </a:r>
            <a:endParaRPr lang="en-US" sz="1500" dirty="0"/>
          </a:p>
        </p:txBody>
      </p:sp>
      <p:sp>
        <p:nvSpPr>
          <p:cNvPr id="7" name="Avant flèche 2"/>
          <p:cNvSpPr/>
          <p:nvPr/>
        </p:nvSpPr>
        <p:spPr>
          <a:xfrm>
            <a:off x="5257800" y="2034540"/>
            <a:ext cx="502920" cy="0"/>
          </a:xfrm>
          <a:prstGeom prst="line">
            <a:avLst/>
          </a:prstGeom>
          <a:noFill/>
          <a:ln w="22225">
            <a:solidFill>
              <a:schemeClr val="accent5"/>
            </a:solidFill>
            <a:prstDash val="solid"/>
            <a:tailEnd type="triangle"/>
          </a:ln>
        </p:spPr>
      </p:sp>
      <p:sp>
        <p:nvSpPr>
          <p:cNvPr id="8" name="Avant 3"/>
          <p:cNvSpPr txBox="1"/>
          <p:nvPr/>
        </p:nvSpPr>
        <p:spPr>
          <a:xfrm>
            <a:off x="5760720" y="1691640"/>
            <a:ext cx="2103120" cy="685800"/>
          </a:xfrm>
          <a:prstGeom prst="roundRect">
            <a:avLst>
              <a:gd name="adj" fmla="val 13333"/>
            </a:avLst>
          </a:prstGeom>
          <a:solidFill>
            <a:schemeClr val="bg2"/>
          </a:solidFill>
          <a:ln/>
        </p:spPr>
        <p:txBody>
          <a:bodyPr wrap="square" lIns="1016" tIns="1016" rIns="1016" bIns="1016" rtlCol="0" anchor="ctr"/>
          <a:lstStyle/>
          <a:p>
            <a:pPr algn="ctr" indent="0" marL="0">
              <a:buNone/>
            </a:pPr>
            <a:r>
              <a:rPr lang="en-US" sz="1500" dirty="0">
                <a:solidFill>
                  <a:schemeClr val="tx1"/>
                </a:solidFill>
              </a:rPr>
              <a:t>Code</a:t>
            </a:r>
            <a:endParaRPr lang="en-US" sz="1500" dirty="0"/>
          </a:p>
        </p:txBody>
      </p:sp>
      <p:sp>
        <p:nvSpPr>
          <p:cNvPr id="9" name="Avant flèche 3"/>
          <p:cNvSpPr/>
          <p:nvPr/>
        </p:nvSpPr>
        <p:spPr>
          <a:xfrm>
            <a:off x="7863840" y="2034540"/>
            <a:ext cx="502920" cy="0"/>
          </a:xfrm>
          <a:prstGeom prst="line">
            <a:avLst/>
          </a:prstGeom>
          <a:noFill/>
          <a:ln w="22225">
            <a:solidFill>
              <a:schemeClr val="accent5"/>
            </a:solidFill>
            <a:prstDash val="solid"/>
            <a:tailEnd type="triangle"/>
          </a:ln>
        </p:spPr>
      </p:sp>
      <p:sp>
        <p:nvSpPr>
          <p:cNvPr id="10" name="Avant 4"/>
          <p:cNvSpPr txBox="1"/>
          <p:nvPr/>
        </p:nvSpPr>
        <p:spPr>
          <a:xfrm>
            <a:off x="8366760" y="1691640"/>
            <a:ext cx="2103120" cy="685800"/>
          </a:xfrm>
          <a:prstGeom prst="roundRect">
            <a:avLst>
              <a:gd name="adj" fmla="val 13333"/>
            </a:avLst>
          </a:prstGeom>
          <a:solidFill>
            <a:schemeClr val="bg2"/>
          </a:solidFill>
          <a:ln/>
        </p:spPr>
        <p:txBody>
          <a:bodyPr wrap="square" lIns="1016" tIns="1016" rIns="1016" bIns="1016" rtlCol="0" anchor="ctr"/>
          <a:lstStyle/>
          <a:p>
            <a:pPr algn="ctr" indent="0" marL="0">
              <a:buNone/>
            </a:pPr>
            <a:r>
              <a:rPr lang="en-US" sz="1500" dirty="0">
                <a:solidFill>
                  <a:schemeClr val="tx1"/>
                </a:solidFill>
              </a:rPr>
              <a:t>Tests, ticket fermé</a:t>
            </a:r>
            <a:endParaRPr lang="en-US" sz="1500" dirty="0"/>
          </a:p>
        </p:txBody>
      </p:sp>
      <p:sp>
        <p:nvSpPr>
          <p:cNvPr id="11" name="Text 9"/>
          <p:cNvSpPr txBox="1"/>
          <p:nvPr/>
        </p:nvSpPr>
        <p:spPr>
          <a:xfrm>
            <a:off x="548640" y="2743200"/>
            <a:ext cx="7315200" cy="320040"/>
          </a:xfrm>
          <a:prstGeom prst="rect">
            <a:avLst/>
          </a:prstGeom>
          <a:noFill/>
          <a:ln/>
        </p:spPr>
        <p:txBody>
          <a:bodyPr wrap="square" lIns="0" tIns="0" rIns="0" bIns="0" rtlCol="0" anchor="ctr"/>
          <a:lstStyle/>
          <a:p>
            <a:pPr indent="0" marL="0">
              <a:buNone/>
            </a:pPr>
            <a:r>
              <a:rPr lang="en-US" sz="1400" b="1" dirty="0">
                <a:solidFill>
                  <a:schemeClr val="accent1"/>
                </a:solidFill>
              </a:rPr>
              <a:t>Avec la méthode : boucle fermée à deux ordres</a:t>
            </a:r>
            <a:endParaRPr lang="en-US" sz="1400" dirty="0"/>
          </a:p>
        </p:txBody>
      </p:sp>
      <p:sp>
        <p:nvSpPr>
          <p:cNvPr id="12" name="Après 1"/>
          <p:cNvSpPr txBox="1"/>
          <p:nvPr/>
        </p:nvSpPr>
        <p:spPr>
          <a:xfrm>
            <a:off x="548640" y="3154680"/>
            <a:ext cx="2011680" cy="777240"/>
          </a:xfrm>
          <a:prstGeom prst="roundRect">
            <a:avLst>
              <a:gd name="adj" fmla="val 11765"/>
            </a:avLst>
          </a:prstGeom>
          <a:solidFill>
            <a:schemeClr val="accent1"/>
          </a:solidFill>
          <a:ln/>
        </p:spPr>
        <p:txBody>
          <a:bodyPr wrap="square" lIns="1016" tIns="1016" rIns="1016" bIns="1016" rtlCol="0" anchor="ctr"/>
          <a:lstStyle/>
          <a:p>
            <a:pPr algn="ctr" indent="0" marL="0">
              <a:buNone/>
            </a:pPr>
            <a:r>
              <a:rPr lang="en-US" sz="1500" b="1" dirty="0">
                <a:solidFill>
                  <a:schemeClr val="bg1"/>
                </a:solidFill>
              </a:rPr>
              <a:t>Fiche</a:t>
            </a:r>
            <a:endParaRPr lang="en-US" sz="1500" dirty="0"/>
          </a:p>
          <a:p>
            <a:pPr algn="ctr" indent="0" marL="0">
              <a:buNone/>
            </a:pPr>
            <a:r>
              <a:rPr lang="en-US" sz="1300" dirty="0">
                <a:solidFill>
                  <a:schemeClr val="bg1"/>
                </a:solidFill>
              </a:rPr>
              <a:t>validée</a:t>
            </a:r>
            <a:endParaRPr lang="en-US" sz="1500" dirty="0"/>
          </a:p>
        </p:txBody>
      </p:sp>
      <p:sp>
        <p:nvSpPr>
          <p:cNvPr id="13" name="Après flèche 1"/>
          <p:cNvSpPr/>
          <p:nvPr/>
        </p:nvSpPr>
        <p:spPr>
          <a:xfrm>
            <a:off x="2560320" y="3543300"/>
            <a:ext cx="502920" cy="0"/>
          </a:xfrm>
          <a:prstGeom prst="line">
            <a:avLst/>
          </a:prstGeom>
          <a:noFill/>
          <a:ln w="22225">
            <a:solidFill>
              <a:schemeClr val="tx2"/>
            </a:solidFill>
            <a:prstDash val="solid"/>
            <a:tailEnd type="triangle"/>
          </a:ln>
        </p:spPr>
      </p:sp>
      <p:sp>
        <p:nvSpPr>
          <p:cNvPr id="14" name="Après 2"/>
          <p:cNvSpPr txBox="1"/>
          <p:nvPr/>
        </p:nvSpPr>
        <p:spPr>
          <a:xfrm>
            <a:off x="3063240" y="3154680"/>
            <a:ext cx="2514600" cy="777240"/>
          </a:xfrm>
          <a:prstGeom prst="roundRect">
            <a:avLst>
              <a:gd name="adj" fmla="val 11765"/>
            </a:avLst>
          </a:prstGeom>
          <a:solidFill>
            <a:schemeClr val="accent1"/>
          </a:solidFill>
          <a:ln/>
        </p:spPr>
        <p:txBody>
          <a:bodyPr wrap="square" lIns="1016" tIns="1016" rIns="1016" bIns="1016" rtlCol="0" anchor="ctr"/>
          <a:lstStyle/>
          <a:p>
            <a:pPr algn="ctr" indent="0" marL="0">
              <a:buNone/>
            </a:pPr>
            <a:r>
              <a:rPr lang="en-US" sz="1500" b="1" dirty="0">
                <a:solidFill>
                  <a:schemeClr val="bg1"/>
                </a:solidFill>
              </a:rPr>
              <a:t>Transformation</a:t>
            </a:r>
            <a:endParaRPr lang="en-US" sz="1500" dirty="0"/>
          </a:p>
          <a:p>
            <a:pPr algn="ctr" indent="0" marL="0">
              <a:buNone/>
            </a:pPr>
            <a:r>
              <a:rPr lang="en-US" sz="1300" dirty="0">
                <a:solidFill>
                  <a:schemeClr val="bg1"/>
                </a:solidFill>
              </a:rPr>
              <a:t>sous invariants</a:t>
            </a:r>
            <a:endParaRPr lang="en-US" sz="1500" dirty="0"/>
          </a:p>
        </p:txBody>
      </p:sp>
      <p:sp>
        <p:nvSpPr>
          <p:cNvPr id="15" name="Après flèche 2"/>
          <p:cNvSpPr/>
          <p:nvPr/>
        </p:nvSpPr>
        <p:spPr>
          <a:xfrm>
            <a:off x="5577840" y="3543300"/>
            <a:ext cx="502920" cy="0"/>
          </a:xfrm>
          <a:prstGeom prst="line">
            <a:avLst/>
          </a:prstGeom>
          <a:noFill/>
          <a:ln w="22225">
            <a:solidFill>
              <a:schemeClr val="tx2"/>
            </a:solidFill>
            <a:prstDash val="solid"/>
            <a:tailEnd type="triangle"/>
          </a:ln>
        </p:spPr>
      </p:sp>
      <p:sp>
        <p:nvSpPr>
          <p:cNvPr id="16" name="Après 3"/>
          <p:cNvSpPr txBox="1"/>
          <p:nvPr/>
        </p:nvSpPr>
        <p:spPr>
          <a:xfrm>
            <a:off x="6080760" y="3154680"/>
            <a:ext cx="2286000" cy="777240"/>
          </a:xfrm>
          <a:prstGeom prst="roundRect">
            <a:avLst>
              <a:gd name="adj" fmla="val 11765"/>
            </a:avLst>
          </a:prstGeom>
          <a:solidFill>
            <a:schemeClr val="accent1"/>
          </a:solidFill>
          <a:ln/>
        </p:spPr>
        <p:txBody>
          <a:bodyPr wrap="square" lIns="1016" tIns="1016" rIns="1016" bIns="1016" rtlCol="0" anchor="ctr"/>
          <a:lstStyle/>
          <a:p>
            <a:pPr algn="ctr" indent="0" marL="0">
              <a:buNone/>
            </a:pPr>
            <a:r>
              <a:rPr lang="en-US" sz="1500" b="1" dirty="0">
                <a:solidFill>
                  <a:schemeClr val="bg1"/>
                </a:solidFill>
              </a:rPr>
              <a:t>Observation</a:t>
            </a:r>
            <a:endParaRPr lang="en-US" sz="1500" dirty="0"/>
          </a:p>
          <a:p>
            <a:pPr algn="ctr" indent="0" marL="0">
              <a:buNone/>
            </a:pPr>
            <a:r>
              <a:rPr lang="en-US" sz="1300" dirty="0">
                <a:solidFill>
                  <a:schemeClr val="bg1"/>
                </a:solidFill>
              </a:rPr>
              <a:t>tests, mesures</a:t>
            </a:r>
            <a:endParaRPr lang="en-US" sz="1500" dirty="0"/>
          </a:p>
        </p:txBody>
      </p:sp>
      <p:sp>
        <p:nvSpPr>
          <p:cNvPr id="17" name="Après flèche 3"/>
          <p:cNvSpPr/>
          <p:nvPr/>
        </p:nvSpPr>
        <p:spPr>
          <a:xfrm>
            <a:off x="8366760" y="3543300"/>
            <a:ext cx="502920" cy="0"/>
          </a:xfrm>
          <a:prstGeom prst="line">
            <a:avLst/>
          </a:prstGeom>
          <a:noFill/>
          <a:ln w="22225">
            <a:solidFill>
              <a:schemeClr val="tx2"/>
            </a:solidFill>
            <a:prstDash val="solid"/>
            <a:tailEnd type="triangle"/>
          </a:ln>
        </p:spPr>
      </p:sp>
      <p:sp>
        <p:nvSpPr>
          <p:cNvPr id="18" name="Après 4"/>
          <p:cNvSpPr txBox="1"/>
          <p:nvPr/>
        </p:nvSpPr>
        <p:spPr>
          <a:xfrm>
            <a:off x="8869680" y="3154680"/>
            <a:ext cx="2103120" cy="777240"/>
          </a:xfrm>
          <a:prstGeom prst="roundRect">
            <a:avLst>
              <a:gd name="adj" fmla="val 11765"/>
            </a:avLst>
          </a:prstGeom>
          <a:solidFill>
            <a:schemeClr val="accent1"/>
          </a:solidFill>
          <a:ln/>
        </p:spPr>
        <p:txBody>
          <a:bodyPr wrap="square" lIns="1016" tIns="1016" rIns="1016" bIns="1016" rtlCol="0" anchor="ctr"/>
          <a:lstStyle/>
          <a:p>
            <a:pPr algn="ctr" indent="0" marL="0">
              <a:buNone/>
            </a:pPr>
            <a:r>
              <a:rPr lang="en-US" sz="1500" b="1" dirty="0">
                <a:solidFill>
                  <a:schemeClr val="bg1"/>
                </a:solidFill>
              </a:rPr>
              <a:t>Adaptation</a:t>
            </a:r>
            <a:endParaRPr lang="en-US" sz="1500" dirty="0"/>
          </a:p>
          <a:p>
            <a:pPr algn="ctr" indent="0" marL="0">
              <a:buNone/>
            </a:pPr>
            <a:r>
              <a:rPr lang="en-US" sz="1300" dirty="0">
                <a:solidFill>
                  <a:schemeClr val="bg1"/>
                </a:solidFill>
              </a:rPr>
              <a:t>deux retours</a:t>
            </a:r>
            <a:endParaRPr lang="en-US" sz="1500" dirty="0"/>
          </a:p>
        </p:txBody>
      </p:sp>
      <p:sp>
        <p:nvSpPr>
          <p:cNvPr id="19" name="Ordre 1 (descente)"/>
          <p:cNvSpPr/>
          <p:nvPr/>
        </p:nvSpPr>
        <p:spPr>
          <a:xfrm>
            <a:off x="9509760" y="3931920"/>
            <a:ext cx="0" cy="365760"/>
          </a:xfrm>
          <a:prstGeom prst="line">
            <a:avLst/>
          </a:prstGeom>
          <a:noFill/>
          <a:ln w="25400">
            <a:solidFill>
              <a:schemeClr val="tx2"/>
            </a:solidFill>
            <a:prstDash val="solid"/>
          </a:ln>
        </p:spPr>
      </p:sp>
      <p:sp>
        <p:nvSpPr>
          <p:cNvPr id="20" name="Ordre 1 (retour)"/>
          <p:cNvSpPr/>
          <p:nvPr/>
        </p:nvSpPr>
        <p:spPr>
          <a:xfrm>
            <a:off x="4320540" y="4297680"/>
            <a:ext cx="5189220" cy="0"/>
          </a:xfrm>
          <a:prstGeom prst="line">
            <a:avLst/>
          </a:prstGeom>
          <a:noFill/>
          <a:ln w="25400">
            <a:solidFill>
              <a:schemeClr val="tx2"/>
            </a:solidFill>
            <a:prstDash val="solid"/>
          </a:ln>
        </p:spPr>
      </p:sp>
      <p:sp>
        <p:nvSpPr>
          <p:cNvPr id="21" name="Ordre 1 (remontée)"/>
          <p:cNvSpPr/>
          <p:nvPr/>
        </p:nvSpPr>
        <p:spPr>
          <a:xfrm>
            <a:off x="4320540" y="3931920"/>
            <a:ext cx="0" cy="365760"/>
          </a:xfrm>
          <a:prstGeom prst="line">
            <a:avLst/>
          </a:prstGeom>
          <a:noFill/>
          <a:ln w="25400">
            <a:solidFill>
              <a:schemeClr val="tx2"/>
            </a:solidFill>
            <a:prstDash val="solid"/>
            <a:headEnd type="triangle"/>
          </a:ln>
        </p:spPr>
      </p:sp>
      <p:sp>
        <p:nvSpPr>
          <p:cNvPr id="22" name="Text 20"/>
          <p:cNvSpPr txBox="1"/>
          <p:nvPr/>
        </p:nvSpPr>
        <p:spPr>
          <a:xfrm>
            <a:off x="4754880" y="4370832"/>
            <a:ext cx="4297680" cy="320040"/>
          </a:xfrm>
          <a:prstGeom prst="rect">
            <a:avLst/>
          </a:prstGeom>
          <a:noFill/>
          <a:ln/>
        </p:spPr>
        <p:txBody>
          <a:bodyPr wrap="square" lIns="0" tIns="0" rIns="0" bIns="0" rtlCol="0" anchor="ctr"/>
          <a:lstStyle/>
          <a:p>
            <a:pPr algn="ctr" indent="0" marL="0">
              <a:buNone/>
            </a:pPr>
            <a:r>
              <a:rPr lang="en-US" sz="1400" b="1" dirty="0">
                <a:solidFill>
                  <a:schemeClr val="tx2"/>
                </a:solidFill>
              </a:rPr>
              <a:t>ordre 1 : corriger le système</a:t>
            </a:r>
            <a:endParaRPr lang="en-US" sz="1400" dirty="0"/>
          </a:p>
        </p:txBody>
      </p:sp>
      <p:sp>
        <p:nvSpPr>
          <p:cNvPr id="23" name="Ordre 2 (descente)"/>
          <p:cNvSpPr/>
          <p:nvPr/>
        </p:nvSpPr>
        <p:spPr>
          <a:xfrm>
            <a:off x="10424160" y="3931920"/>
            <a:ext cx="0" cy="1097280"/>
          </a:xfrm>
          <a:prstGeom prst="line">
            <a:avLst/>
          </a:prstGeom>
          <a:noFill/>
          <a:ln w="25400">
            <a:solidFill>
              <a:schemeClr val="accent2"/>
            </a:solidFill>
            <a:prstDash val="dash"/>
          </a:ln>
        </p:spPr>
      </p:sp>
      <p:sp>
        <p:nvSpPr>
          <p:cNvPr id="24" name="Ordre 2 (retour)"/>
          <p:cNvSpPr/>
          <p:nvPr/>
        </p:nvSpPr>
        <p:spPr>
          <a:xfrm>
            <a:off x="1554480" y="5029200"/>
            <a:ext cx="8869680" cy="0"/>
          </a:xfrm>
          <a:prstGeom prst="line">
            <a:avLst/>
          </a:prstGeom>
          <a:noFill/>
          <a:ln w="25400">
            <a:solidFill>
              <a:schemeClr val="accent2"/>
            </a:solidFill>
            <a:prstDash val="dash"/>
          </a:ln>
        </p:spPr>
      </p:sp>
      <p:sp>
        <p:nvSpPr>
          <p:cNvPr id="25" name="Ordre 2 (remontée)"/>
          <p:cNvSpPr/>
          <p:nvPr/>
        </p:nvSpPr>
        <p:spPr>
          <a:xfrm>
            <a:off x="1554480" y="3931920"/>
            <a:ext cx="0" cy="1097280"/>
          </a:xfrm>
          <a:prstGeom prst="line">
            <a:avLst/>
          </a:prstGeom>
          <a:noFill/>
          <a:ln w="25400">
            <a:solidFill>
              <a:schemeClr val="accent2"/>
            </a:solidFill>
            <a:prstDash val="dash"/>
            <a:headEnd type="triangle"/>
          </a:ln>
        </p:spPr>
      </p:sp>
      <p:sp>
        <p:nvSpPr>
          <p:cNvPr id="26" name="Text 24"/>
          <p:cNvSpPr txBox="1"/>
          <p:nvPr/>
        </p:nvSpPr>
        <p:spPr>
          <a:xfrm>
            <a:off x="2926080" y="5102352"/>
            <a:ext cx="6400800" cy="320040"/>
          </a:xfrm>
          <a:prstGeom prst="rect">
            <a:avLst/>
          </a:prstGeom>
          <a:noFill/>
          <a:ln/>
        </p:spPr>
        <p:txBody>
          <a:bodyPr wrap="square" lIns="0" tIns="0" rIns="0" bIns="0" rtlCol="0" anchor="ctr"/>
          <a:lstStyle/>
          <a:p>
            <a:pPr algn="ctr" indent="0" marL="0">
              <a:buNone/>
            </a:pPr>
            <a:r>
              <a:rPr lang="en-US" sz="1400" b="1" dirty="0">
                <a:solidFill>
                  <a:schemeClr val="tx2"/>
                </a:solidFill>
              </a:rPr>
              <a:t>ordre 2 : corriger la méthode, si vos équipes ratifient</a:t>
            </a:r>
            <a:endParaRPr lang="en-US" sz="1400" dirty="0"/>
          </a:p>
        </p:txBody>
      </p:sp>
      <p:sp>
        <p:nvSpPr>
          <p:cNvPr id="27" name="Text 25"/>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700" i="1" dirty="0">
                <a:solidFill>
                  <a:schemeClr val="tx2"/>
                </a:solidFill>
                <a:latin typeface="+mj-lt" pitchFamily="34" charset="0"/>
                <a:ea typeface="+mj-lt" pitchFamily="34" charset="-122"/>
                <a:cs typeface="+mj-lt" pitchFamily="34" charset="-120"/>
              </a:rPr>
              <a:t>Un ticket n'est plus une modification à exécuter : c'est une transformation à piloter, prouvée pas à pas.</a:t>
            </a:r>
            <a:endParaRPr lang="en-US" sz="17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La contrepartie, ticket par ticket</a:t>
            </a:r>
            <a:endParaRPr lang="en-US" sz="3600" dirty="0"/>
          </a:p>
        </p:txBody>
      </p:sp>
      <p:sp>
        <p:nvSpPr>
          <p:cNvPr id="3" name="Un ticket"/>
          <p:cNvSpPr txBox="1"/>
          <p:nvPr/>
        </p:nvSpPr>
        <p:spPr>
          <a:xfrm>
            <a:off x="548640" y="2971800"/>
            <a:ext cx="1371600" cy="822960"/>
          </a:xfrm>
          <a:prstGeom prst="roundRect">
            <a:avLst>
              <a:gd name="adj" fmla="val 11111"/>
            </a:avLst>
          </a:prstGeom>
          <a:solidFill>
            <a:schemeClr val="tx2"/>
          </a:solidFill>
          <a:ln/>
        </p:spPr>
        <p:txBody>
          <a:bodyPr wrap="square" lIns="1016" tIns="1016" rIns="1016" bIns="1016" rtlCol="0" anchor="ctr"/>
          <a:lstStyle/>
          <a:p>
            <a:pPr algn="ctr" indent="0" marL="0">
              <a:buNone/>
            </a:pPr>
            <a:r>
              <a:rPr lang="en-US" sz="1600" b="1" dirty="0">
                <a:solidFill>
                  <a:schemeClr val="bg1"/>
                </a:solidFill>
              </a:rPr>
              <a:t>Un ticket</a:t>
            </a:r>
            <a:endParaRPr lang="en-US" sz="1600" dirty="0"/>
          </a:p>
        </p:txBody>
      </p:sp>
      <p:sp>
        <p:nvSpPr>
          <p:cNvPr id="4" name="Livrable 1"/>
          <p:cNvSpPr txBox="1"/>
          <p:nvPr/>
        </p:nvSpPr>
        <p:spPr>
          <a:xfrm>
            <a:off x="2423160" y="1371600"/>
            <a:ext cx="3246120" cy="713232"/>
          </a:xfrm>
          <a:prstGeom prst="roundRect">
            <a:avLst>
              <a:gd name="adj" fmla="val 12821"/>
            </a:avLst>
          </a:prstGeom>
          <a:solidFill>
            <a:schemeClr val="bg2"/>
          </a:solidFill>
          <a:ln/>
        </p:spPr>
        <p:txBody>
          <a:bodyPr wrap="square" lIns="1016" tIns="1016" rIns="1016" bIns="1016" rtlCol="0" anchor="ctr"/>
          <a:lstStyle/>
          <a:p>
            <a:pPr algn="ctr" indent="0" marL="0">
              <a:buNone/>
            </a:pPr>
            <a:r>
              <a:rPr lang="en-US" sz="1500" b="1" dirty="0">
                <a:solidFill>
                  <a:schemeClr val="tx2"/>
                </a:solidFill>
              </a:rPr>
              <a:t>Fiche de transformation</a:t>
            </a:r>
            <a:endParaRPr lang="en-US" sz="1500" dirty="0"/>
          </a:p>
          <a:p>
            <a:pPr algn="ctr" indent="0" marL="0">
              <a:buNone/>
            </a:pPr>
            <a:r>
              <a:rPr lang="en-US" sz="1300" dirty="0">
                <a:solidFill>
                  <a:schemeClr val="tx1"/>
                </a:solidFill>
              </a:rPr>
              <a:t>objectif, impacts, décisions</a:t>
            </a:r>
            <a:endParaRPr lang="en-US" sz="1500" dirty="0"/>
          </a:p>
        </p:txBody>
      </p:sp>
      <p:sp>
        <p:nvSpPr>
          <p:cNvPr id="5" name="Vers livrable 1"/>
          <p:cNvSpPr/>
          <p:nvPr/>
        </p:nvSpPr>
        <p:spPr>
          <a:xfrm flipV="1">
            <a:off x="1920240" y="1728216"/>
            <a:ext cx="502920" cy="1655064"/>
          </a:xfrm>
          <a:prstGeom prst="line">
            <a:avLst/>
          </a:prstGeom>
          <a:noFill/>
          <a:ln w="15875">
            <a:solidFill>
              <a:schemeClr val="accent5"/>
            </a:solidFill>
            <a:prstDash val="solid"/>
            <a:tailEnd type="triangle"/>
          </a:ln>
        </p:spPr>
      </p:sp>
      <p:sp>
        <p:nvSpPr>
          <p:cNvPr id="6" name="Livrable 1 vers dépôts"/>
          <p:cNvSpPr/>
          <p:nvPr/>
        </p:nvSpPr>
        <p:spPr>
          <a:xfrm>
            <a:off x="5669280" y="1728216"/>
            <a:ext cx="502920" cy="1655064"/>
          </a:xfrm>
          <a:prstGeom prst="line">
            <a:avLst/>
          </a:prstGeom>
          <a:noFill/>
          <a:ln w="15875">
            <a:solidFill>
              <a:schemeClr val="accent5"/>
            </a:solidFill>
            <a:prstDash val="solid"/>
            <a:tailEnd type="triangle"/>
          </a:ln>
        </p:spPr>
      </p:sp>
      <p:sp>
        <p:nvSpPr>
          <p:cNvPr id="7" name="Livrable 2"/>
          <p:cNvSpPr txBox="1"/>
          <p:nvPr/>
        </p:nvSpPr>
        <p:spPr>
          <a:xfrm>
            <a:off x="2423160" y="2267712"/>
            <a:ext cx="3246120" cy="713232"/>
          </a:xfrm>
          <a:prstGeom prst="roundRect">
            <a:avLst>
              <a:gd name="adj" fmla="val 12821"/>
            </a:avLst>
          </a:prstGeom>
          <a:solidFill>
            <a:schemeClr val="bg2"/>
          </a:solidFill>
          <a:ln/>
        </p:spPr>
        <p:txBody>
          <a:bodyPr wrap="square" lIns="1016" tIns="1016" rIns="1016" bIns="1016" rtlCol="0" anchor="ctr"/>
          <a:lstStyle/>
          <a:p>
            <a:pPr algn="ctr" indent="0" marL="0">
              <a:buNone/>
            </a:pPr>
            <a:r>
              <a:rPr lang="en-US" sz="1500" b="1" dirty="0">
                <a:solidFill>
                  <a:schemeClr val="tx2"/>
                </a:solidFill>
              </a:rPr>
              <a:t>Code livré</a:t>
            </a:r>
            <a:endParaRPr lang="en-US" sz="1500" dirty="0"/>
          </a:p>
          <a:p>
            <a:pPr algn="ctr" indent="0" marL="0">
              <a:buNone/>
            </a:pPr>
            <a:r>
              <a:rPr lang="en-US" sz="1300" dirty="0">
                <a:solidFill>
                  <a:schemeClr val="tx1"/>
                </a:solidFill>
              </a:rPr>
              <a:t>une branche, des commits tracés</a:t>
            </a:r>
            <a:endParaRPr lang="en-US" sz="1500" dirty="0"/>
          </a:p>
        </p:txBody>
      </p:sp>
      <p:sp>
        <p:nvSpPr>
          <p:cNvPr id="8" name="Vers livrable 2"/>
          <p:cNvSpPr/>
          <p:nvPr/>
        </p:nvSpPr>
        <p:spPr>
          <a:xfrm flipV="1">
            <a:off x="1920240" y="2624328"/>
            <a:ext cx="502920" cy="758952"/>
          </a:xfrm>
          <a:prstGeom prst="line">
            <a:avLst/>
          </a:prstGeom>
          <a:noFill/>
          <a:ln w="15875">
            <a:solidFill>
              <a:schemeClr val="accent5"/>
            </a:solidFill>
            <a:prstDash val="solid"/>
            <a:tailEnd type="triangle"/>
          </a:ln>
        </p:spPr>
      </p:sp>
      <p:sp>
        <p:nvSpPr>
          <p:cNvPr id="9" name="Livrable 2 vers dépôts"/>
          <p:cNvSpPr/>
          <p:nvPr/>
        </p:nvSpPr>
        <p:spPr>
          <a:xfrm>
            <a:off x="5669280" y="2624328"/>
            <a:ext cx="502920" cy="758952"/>
          </a:xfrm>
          <a:prstGeom prst="line">
            <a:avLst/>
          </a:prstGeom>
          <a:noFill/>
          <a:ln w="15875">
            <a:solidFill>
              <a:schemeClr val="accent5"/>
            </a:solidFill>
            <a:prstDash val="solid"/>
            <a:tailEnd type="triangle"/>
          </a:ln>
        </p:spPr>
      </p:sp>
      <p:sp>
        <p:nvSpPr>
          <p:cNvPr id="10" name="Livrable 3"/>
          <p:cNvSpPr txBox="1"/>
          <p:nvPr/>
        </p:nvSpPr>
        <p:spPr>
          <a:xfrm>
            <a:off x="2423160" y="3163824"/>
            <a:ext cx="3246120" cy="713232"/>
          </a:xfrm>
          <a:prstGeom prst="roundRect">
            <a:avLst>
              <a:gd name="adj" fmla="val 12821"/>
            </a:avLst>
          </a:prstGeom>
          <a:solidFill>
            <a:schemeClr val="bg2"/>
          </a:solidFill>
          <a:ln/>
        </p:spPr>
        <p:txBody>
          <a:bodyPr wrap="square" lIns="1016" tIns="1016" rIns="1016" bIns="1016" rtlCol="0" anchor="ctr"/>
          <a:lstStyle/>
          <a:p>
            <a:pPr algn="ctr" indent="0" marL="0">
              <a:buNone/>
            </a:pPr>
            <a:r>
              <a:rPr lang="en-US" sz="1500" b="1" dirty="0">
                <a:solidFill>
                  <a:schemeClr val="tx2"/>
                </a:solidFill>
              </a:rPr>
              <a:t>Tests</a:t>
            </a:r>
            <a:endParaRPr lang="en-US" sz="1500" dirty="0"/>
          </a:p>
          <a:p>
            <a:pPr algn="ctr" indent="0" marL="0">
              <a:buNone/>
            </a:pPr>
            <a:r>
              <a:rPr lang="en-US" sz="1300" dirty="0">
                <a:solidFill>
                  <a:schemeClr val="tx1"/>
                </a:solidFill>
              </a:rPr>
              <a:t>chacun prouve un critère ou un risque</a:t>
            </a:r>
            <a:endParaRPr lang="en-US" sz="1500" dirty="0"/>
          </a:p>
        </p:txBody>
      </p:sp>
      <p:sp>
        <p:nvSpPr>
          <p:cNvPr id="11" name="Vers livrable 3"/>
          <p:cNvSpPr/>
          <p:nvPr/>
        </p:nvSpPr>
        <p:spPr>
          <a:xfrm>
            <a:off x="1920240" y="3383280"/>
            <a:ext cx="502920" cy="137160"/>
          </a:xfrm>
          <a:prstGeom prst="line">
            <a:avLst/>
          </a:prstGeom>
          <a:noFill/>
          <a:ln w="15875">
            <a:solidFill>
              <a:schemeClr val="accent5"/>
            </a:solidFill>
            <a:prstDash val="solid"/>
            <a:tailEnd type="triangle"/>
          </a:ln>
        </p:spPr>
      </p:sp>
      <p:sp>
        <p:nvSpPr>
          <p:cNvPr id="12" name="Livrable 3 vers dépôts"/>
          <p:cNvSpPr/>
          <p:nvPr/>
        </p:nvSpPr>
        <p:spPr>
          <a:xfrm flipV="1">
            <a:off x="5669280" y="3383280"/>
            <a:ext cx="502920" cy="137160"/>
          </a:xfrm>
          <a:prstGeom prst="line">
            <a:avLst/>
          </a:prstGeom>
          <a:noFill/>
          <a:ln w="15875">
            <a:solidFill>
              <a:schemeClr val="accent5"/>
            </a:solidFill>
            <a:prstDash val="solid"/>
            <a:tailEnd type="triangle"/>
          </a:ln>
        </p:spPr>
      </p:sp>
      <p:sp>
        <p:nvSpPr>
          <p:cNvPr id="13" name="Livrable 4"/>
          <p:cNvSpPr txBox="1"/>
          <p:nvPr/>
        </p:nvSpPr>
        <p:spPr>
          <a:xfrm>
            <a:off x="2423160" y="4059936"/>
            <a:ext cx="3246120" cy="713232"/>
          </a:xfrm>
          <a:prstGeom prst="roundRect">
            <a:avLst>
              <a:gd name="adj" fmla="val 12821"/>
            </a:avLst>
          </a:prstGeom>
          <a:solidFill>
            <a:schemeClr val="bg2"/>
          </a:solidFill>
          <a:ln/>
        </p:spPr>
        <p:txBody>
          <a:bodyPr wrap="square" lIns="1016" tIns="1016" rIns="1016" bIns="1016" rtlCol="0" anchor="ctr"/>
          <a:lstStyle/>
          <a:p>
            <a:pPr algn="ctr" indent="0" marL="0">
              <a:buNone/>
            </a:pPr>
            <a:r>
              <a:rPr lang="en-US" sz="1500" b="1" dirty="0">
                <a:solidFill>
                  <a:schemeClr val="tx2"/>
                </a:solidFill>
              </a:rPr>
              <a:t>Dossier de preuves</a:t>
            </a:r>
            <a:endParaRPr lang="en-US" sz="1500" dirty="0"/>
          </a:p>
          <a:p>
            <a:pPr algn="ctr" indent="0" marL="0">
              <a:buNone/>
            </a:pPr>
            <a:r>
              <a:rPr lang="en-US" sz="1300" dirty="0">
                <a:solidFill>
                  <a:schemeClr val="tx1"/>
                </a:solidFill>
              </a:rPr>
              <a:t>critère par critère</a:t>
            </a:r>
            <a:endParaRPr lang="en-US" sz="1500" dirty="0"/>
          </a:p>
        </p:txBody>
      </p:sp>
      <p:sp>
        <p:nvSpPr>
          <p:cNvPr id="14" name="Vers livrable 4"/>
          <p:cNvSpPr/>
          <p:nvPr/>
        </p:nvSpPr>
        <p:spPr>
          <a:xfrm>
            <a:off x="1920240" y="3383280"/>
            <a:ext cx="502920" cy="1033272"/>
          </a:xfrm>
          <a:prstGeom prst="line">
            <a:avLst/>
          </a:prstGeom>
          <a:noFill/>
          <a:ln w="15875">
            <a:solidFill>
              <a:schemeClr val="accent5"/>
            </a:solidFill>
            <a:prstDash val="solid"/>
            <a:tailEnd type="triangle"/>
          </a:ln>
        </p:spPr>
      </p:sp>
      <p:sp>
        <p:nvSpPr>
          <p:cNvPr id="15" name="Livrable 4 vers dépôts"/>
          <p:cNvSpPr/>
          <p:nvPr/>
        </p:nvSpPr>
        <p:spPr>
          <a:xfrm flipV="1">
            <a:off x="5669280" y="3383280"/>
            <a:ext cx="502920" cy="1033272"/>
          </a:xfrm>
          <a:prstGeom prst="line">
            <a:avLst/>
          </a:prstGeom>
          <a:noFill/>
          <a:ln w="15875">
            <a:solidFill>
              <a:schemeClr val="accent5"/>
            </a:solidFill>
            <a:prstDash val="solid"/>
            <a:tailEnd type="triangle"/>
          </a:ln>
        </p:spPr>
      </p:sp>
      <p:sp>
        <p:nvSpPr>
          <p:cNvPr id="16" name="Livrable 5"/>
          <p:cNvSpPr txBox="1"/>
          <p:nvPr/>
        </p:nvSpPr>
        <p:spPr>
          <a:xfrm>
            <a:off x="2423160" y="4956048"/>
            <a:ext cx="3246120" cy="713232"/>
          </a:xfrm>
          <a:prstGeom prst="roundRect">
            <a:avLst>
              <a:gd name="adj" fmla="val 12821"/>
            </a:avLst>
          </a:prstGeom>
          <a:solidFill>
            <a:schemeClr val="bg2"/>
          </a:solidFill>
          <a:ln/>
        </p:spPr>
        <p:txBody>
          <a:bodyPr wrap="square" lIns="1016" tIns="1016" rIns="1016" bIns="1016" rtlCol="0" anchor="ctr"/>
          <a:lstStyle/>
          <a:p>
            <a:pPr algn="ctr" indent="0" marL="0">
              <a:buNone/>
            </a:pPr>
            <a:r>
              <a:rPr lang="en-US" sz="1500" b="1" dirty="0">
                <a:solidFill>
                  <a:schemeClr val="tx2"/>
                </a:solidFill>
              </a:rPr>
              <a:t>Connaissances</a:t>
            </a:r>
            <a:endParaRPr lang="en-US" sz="1500" dirty="0"/>
          </a:p>
          <a:p>
            <a:pPr algn="ctr" indent="0" marL="0">
              <a:buNone/>
            </a:pPr>
            <a:r>
              <a:rPr lang="en-US" sz="1300" dirty="0">
                <a:solidFill>
                  <a:schemeClr val="tx1"/>
                </a:solidFill>
              </a:rPr>
              <a:t>registres du projet</a:t>
            </a:r>
            <a:endParaRPr lang="en-US" sz="1500" dirty="0"/>
          </a:p>
        </p:txBody>
      </p:sp>
      <p:sp>
        <p:nvSpPr>
          <p:cNvPr id="17" name="Vers livrable 5"/>
          <p:cNvSpPr/>
          <p:nvPr/>
        </p:nvSpPr>
        <p:spPr>
          <a:xfrm>
            <a:off x="1920240" y="3383280"/>
            <a:ext cx="502920" cy="1929384"/>
          </a:xfrm>
          <a:prstGeom prst="line">
            <a:avLst/>
          </a:prstGeom>
          <a:noFill/>
          <a:ln w="15875">
            <a:solidFill>
              <a:schemeClr val="accent5"/>
            </a:solidFill>
            <a:prstDash val="solid"/>
            <a:tailEnd type="triangle"/>
          </a:ln>
        </p:spPr>
      </p:sp>
      <p:sp>
        <p:nvSpPr>
          <p:cNvPr id="18" name="Livrable 5 vers dépôts"/>
          <p:cNvSpPr/>
          <p:nvPr/>
        </p:nvSpPr>
        <p:spPr>
          <a:xfrm flipV="1">
            <a:off x="5669280" y="3383280"/>
            <a:ext cx="502920" cy="1929384"/>
          </a:xfrm>
          <a:prstGeom prst="line">
            <a:avLst/>
          </a:prstGeom>
          <a:noFill/>
          <a:ln w="15875">
            <a:solidFill>
              <a:schemeClr val="accent5"/>
            </a:solidFill>
            <a:prstDash val="solid"/>
            <a:tailEnd type="triangle"/>
          </a:ln>
        </p:spPr>
      </p:sp>
      <p:sp>
        <p:nvSpPr>
          <p:cNvPr id="19" name="Vos dépôts"/>
          <p:cNvSpPr txBox="1"/>
          <p:nvPr/>
        </p:nvSpPr>
        <p:spPr>
          <a:xfrm>
            <a:off x="6172200" y="2971800"/>
            <a:ext cx="1371600" cy="822960"/>
          </a:xfrm>
          <a:prstGeom prst="roundRect">
            <a:avLst>
              <a:gd name="adj" fmla="val 11111"/>
            </a:avLst>
          </a:prstGeom>
          <a:solidFill>
            <a:schemeClr val="accent1"/>
          </a:solidFill>
          <a:ln/>
        </p:spPr>
        <p:txBody>
          <a:bodyPr wrap="square" lIns="1016" tIns="1016" rIns="1016" bIns="1016" rtlCol="0" anchor="ctr"/>
          <a:lstStyle/>
          <a:p>
            <a:pPr algn="ctr" indent="0" marL="0">
              <a:buNone/>
            </a:pPr>
            <a:r>
              <a:rPr lang="en-US" sz="1600" b="1" dirty="0">
                <a:solidFill>
                  <a:schemeClr val="bg1"/>
                </a:solidFill>
              </a:rPr>
              <a:t>Vos dépôts</a:t>
            </a:r>
            <a:endParaRPr lang="en-US" sz="1600" dirty="0"/>
          </a:p>
        </p:txBody>
      </p:sp>
      <p:sp>
        <p:nvSpPr>
          <p:cNvPr id="20" name="Famille Plus vite"/>
          <p:cNvSpPr/>
          <p:nvPr/>
        </p:nvSpPr>
        <p:spPr>
          <a:xfrm>
            <a:off x="7955280" y="1371600"/>
            <a:ext cx="3657600" cy="2011680"/>
          </a:xfrm>
          <a:prstGeom prst="roundRect">
            <a:avLst>
              <a:gd name="adj" fmla="val 5455"/>
            </a:avLst>
          </a:prstGeom>
          <a:solidFill>
            <a:schemeClr val="bg2"/>
          </a:solidFill>
          <a:ln/>
        </p:spPr>
      </p:sp>
      <p:sp>
        <p:nvSpPr>
          <p:cNvPr id="21" name="Famille Plus vite (pastille)"/>
          <p:cNvSpPr/>
          <p:nvPr/>
        </p:nvSpPr>
        <p:spPr>
          <a:xfrm>
            <a:off x="8183880" y="1600200"/>
            <a:ext cx="640080" cy="640080"/>
          </a:xfrm>
          <a:prstGeom prst="ellipse">
            <a:avLst/>
          </a:prstGeom>
          <a:solidFill>
            <a:schemeClr val="accent1"/>
          </a:solidFill>
          <a:ln/>
        </p:spPr>
      </p:sp>
      <p:pic>
        <p:nvPicPr>
          <p:cNvPr id="22" name="Famille Plus vite (icône)" descr="Plus vite">    </p:cNvPr>
          <p:cNvPicPr>
            <a:picLocks noChangeAspect="1"/>
          </p:cNvPicPr>
          <p:nvPr/>
        </p:nvPicPr>
        <p:blipFill>
          <a:blip r:embed="rId1"/>
          <a:stretch>
            <a:fillRect/>
          </a:stretch>
        </p:blipFill>
        <p:spPr>
          <a:xfrm>
            <a:off x="8311896" y="1728216"/>
            <a:ext cx="384048" cy="384048"/>
          </a:xfrm>
          <a:prstGeom prst="rect">
            <a:avLst/>
          </a:prstGeom>
        </p:spPr>
      </p:pic>
      <p:sp>
        <p:nvSpPr>
          <p:cNvPr id="23" name="Text 20"/>
          <p:cNvSpPr txBox="1"/>
          <p:nvPr/>
        </p:nvSpPr>
        <p:spPr>
          <a:xfrm>
            <a:off x="9006840" y="1600200"/>
            <a:ext cx="2377440" cy="640080"/>
          </a:xfrm>
          <a:prstGeom prst="rect">
            <a:avLst/>
          </a:prstGeom>
          <a:noFill/>
          <a:ln/>
        </p:spPr>
        <p:txBody>
          <a:bodyPr wrap="square" lIns="0" tIns="0" rIns="0" bIns="0" rtlCol="0" anchor="ctr"/>
          <a:lstStyle/>
          <a:p>
            <a:pPr indent="0" marL="0">
              <a:buNone/>
            </a:pPr>
            <a:r>
              <a:rPr lang="en-US" sz="2000" b="1" dirty="0">
                <a:solidFill>
                  <a:schemeClr val="tx2"/>
                </a:solidFill>
              </a:rPr>
              <a:t>Plus vite</a:t>
            </a:r>
            <a:endParaRPr lang="en-US" sz="2000" dirty="0"/>
          </a:p>
        </p:txBody>
      </p:sp>
      <p:sp>
        <p:nvSpPr>
          <p:cNvPr id="24" name="Text 21"/>
          <p:cNvSpPr txBox="1"/>
          <p:nvPr/>
        </p:nvSpPr>
        <p:spPr>
          <a:xfrm>
            <a:off x="8183880" y="2331720"/>
            <a:ext cx="3200400" cy="914400"/>
          </a:xfrm>
          <a:prstGeom prst="rect">
            <a:avLst/>
          </a:prstGeom>
          <a:noFill/>
          <a:ln/>
        </p:spPr>
        <p:txBody>
          <a:bodyPr wrap="square" lIns="0" tIns="0" rIns="0" bIns="0" rtlCol="0" anchor="t"/>
          <a:lstStyle/>
          <a:p>
            <a:pPr indent="0" marL="0">
              <a:buNone/>
            </a:pPr>
            <a:r>
              <a:rPr lang="en-US" sz="1500" dirty="0">
                <a:solidFill>
                  <a:schemeClr val="tx1"/>
                </a:solidFill>
              </a:rPr>
              <a:t>Délai de traitement, effort de développement et de relecture, prise en main du code.</a:t>
            </a:r>
            <a:endParaRPr lang="en-US" sz="1500" dirty="0"/>
          </a:p>
        </p:txBody>
      </p:sp>
      <p:sp>
        <p:nvSpPr>
          <p:cNvPr id="25" name="Famille Mieux"/>
          <p:cNvSpPr/>
          <p:nvPr/>
        </p:nvSpPr>
        <p:spPr>
          <a:xfrm>
            <a:off x="7955280" y="3611880"/>
            <a:ext cx="3657600" cy="2057400"/>
          </a:xfrm>
          <a:prstGeom prst="roundRect">
            <a:avLst>
              <a:gd name="adj" fmla="val 5333"/>
            </a:avLst>
          </a:prstGeom>
          <a:solidFill>
            <a:schemeClr val="bg2"/>
          </a:solidFill>
          <a:ln/>
        </p:spPr>
      </p:sp>
      <p:sp>
        <p:nvSpPr>
          <p:cNvPr id="26" name="Famille Mieux (pastille)"/>
          <p:cNvSpPr/>
          <p:nvPr/>
        </p:nvSpPr>
        <p:spPr>
          <a:xfrm>
            <a:off x="8183880" y="3840480"/>
            <a:ext cx="640080" cy="640080"/>
          </a:xfrm>
          <a:prstGeom prst="ellipse">
            <a:avLst/>
          </a:prstGeom>
          <a:solidFill>
            <a:schemeClr val="accent1"/>
          </a:solidFill>
          <a:ln/>
        </p:spPr>
      </p:sp>
      <p:pic>
        <p:nvPicPr>
          <p:cNvPr id="27" name="Famille Mieux (icône)" descr="Mieux">    </p:cNvPr>
          <p:cNvPicPr>
            <a:picLocks noChangeAspect="1"/>
          </p:cNvPicPr>
          <p:nvPr/>
        </p:nvPicPr>
        <p:blipFill>
          <a:blip r:embed="rId2"/>
          <a:stretch>
            <a:fillRect/>
          </a:stretch>
        </p:blipFill>
        <p:spPr>
          <a:xfrm>
            <a:off x="8311896" y="3968496"/>
            <a:ext cx="384048" cy="384048"/>
          </a:xfrm>
          <a:prstGeom prst="rect">
            <a:avLst/>
          </a:prstGeom>
        </p:spPr>
      </p:pic>
      <p:sp>
        <p:nvSpPr>
          <p:cNvPr id="28" name="Text 24"/>
          <p:cNvSpPr txBox="1"/>
          <p:nvPr/>
        </p:nvSpPr>
        <p:spPr>
          <a:xfrm>
            <a:off x="9006840" y="3840480"/>
            <a:ext cx="2377440" cy="640080"/>
          </a:xfrm>
          <a:prstGeom prst="rect">
            <a:avLst/>
          </a:prstGeom>
          <a:noFill/>
          <a:ln/>
        </p:spPr>
        <p:txBody>
          <a:bodyPr wrap="square" lIns="0" tIns="0" rIns="0" bIns="0" rtlCol="0" anchor="ctr"/>
          <a:lstStyle/>
          <a:p>
            <a:pPr indent="0" marL="0">
              <a:buNone/>
            </a:pPr>
            <a:r>
              <a:rPr lang="en-US" sz="2000" b="1" dirty="0">
                <a:solidFill>
                  <a:schemeClr val="tx2"/>
                </a:solidFill>
              </a:rPr>
              <a:t>Mieux</a:t>
            </a:r>
            <a:endParaRPr lang="en-US" sz="2000" dirty="0"/>
          </a:p>
        </p:txBody>
      </p:sp>
      <p:sp>
        <p:nvSpPr>
          <p:cNvPr id="29" name="Text 25"/>
          <p:cNvSpPr txBox="1"/>
          <p:nvPr/>
        </p:nvSpPr>
        <p:spPr>
          <a:xfrm>
            <a:off x="8183880" y="4572000"/>
            <a:ext cx="3200400" cy="960120"/>
          </a:xfrm>
          <a:prstGeom prst="rect">
            <a:avLst/>
          </a:prstGeom>
          <a:noFill/>
          <a:ln/>
        </p:spPr>
        <p:txBody>
          <a:bodyPr wrap="square" lIns="0" tIns="0" rIns="0" bIns="0" rtlCol="0" anchor="t"/>
          <a:lstStyle/>
          <a:p>
            <a:pPr indent="0" marL="0">
              <a:buNone/>
            </a:pPr>
            <a:r>
              <a:rPr lang="en-US" sz="1500" dirty="0">
                <a:solidFill>
                  <a:schemeClr val="tx1"/>
                </a:solidFill>
              </a:rPr>
              <a:t>Qualité, maîtrise des risques, traçabilité, capitalisation, adaptabilité : cinq indices consignés dans chaque fiche.</a:t>
            </a:r>
            <a:endParaRPr lang="en-US" sz="15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Ce qui reste chez vous</a:t>
            </a:r>
            <a:endParaRPr lang="en-US" sz="3600" dirty="0"/>
          </a:p>
        </p:txBody>
      </p:sp>
      <p:sp>
        <p:nvSpPr>
          <p:cNvPr id="3" name="Actif 1"/>
          <p:cNvSpPr/>
          <p:nvPr/>
        </p:nvSpPr>
        <p:spPr>
          <a:xfrm>
            <a:off x="548640" y="1371600"/>
            <a:ext cx="3383280" cy="2103120"/>
          </a:xfrm>
          <a:prstGeom prst="roundRect">
            <a:avLst>
              <a:gd name="adj" fmla="val 5217"/>
            </a:avLst>
          </a:prstGeom>
          <a:solidFill>
            <a:schemeClr val="bg2"/>
          </a:solidFill>
          <a:ln/>
        </p:spPr>
      </p:sp>
      <p:sp>
        <p:nvSpPr>
          <p:cNvPr id="4" name="Actif 1 (pastille)"/>
          <p:cNvSpPr/>
          <p:nvPr/>
        </p:nvSpPr>
        <p:spPr>
          <a:xfrm>
            <a:off x="822960" y="1645920"/>
            <a:ext cx="640080" cy="640080"/>
          </a:xfrm>
          <a:prstGeom prst="ellipse">
            <a:avLst/>
          </a:prstGeom>
          <a:solidFill>
            <a:schemeClr val="accent1"/>
          </a:solidFill>
          <a:ln/>
        </p:spPr>
      </p:sp>
      <p:pic>
        <p:nvPicPr>
          <p:cNvPr id="5" name="Actif 1 (icône)" descr="Vos invariants">    </p:cNvPr>
          <p:cNvPicPr>
            <a:picLocks noChangeAspect="1"/>
          </p:cNvPicPr>
          <p:nvPr/>
        </p:nvPicPr>
        <p:blipFill>
          <a:blip r:embed="rId1"/>
          <a:stretch>
            <a:fillRect/>
          </a:stretch>
        </p:blipFill>
        <p:spPr>
          <a:xfrm>
            <a:off x="950976" y="1773936"/>
            <a:ext cx="384048" cy="384048"/>
          </a:xfrm>
          <a:prstGeom prst="rect">
            <a:avLst/>
          </a:prstGeom>
        </p:spPr>
      </p:pic>
      <p:sp>
        <p:nvSpPr>
          <p:cNvPr id="6" name="Text 3"/>
          <p:cNvSpPr txBox="1"/>
          <p:nvPr/>
        </p:nvSpPr>
        <p:spPr>
          <a:xfrm>
            <a:off x="1600200" y="1645920"/>
            <a:ext cx="2194560" cy="640080"/>
          </a:xfrm>
          <a:prstGeom prst="rect">
            <a:avLst/>
          </a:prstGeom>
          <a:noFill/>
          <a:ln/>
        </p:spPr>
        <p:txBody>
          <a:bodyPr wrap="square" lIns="0" tIns="0" rIns="0" bIns="0" rtlCol="0" anchor="ctr"/>
          <a:lstStyle/>
          <a:p>
            <a:pPr indent="0" marL="0">
              <a:buNone/>
            </a:pPr>
            <a:r>
              <a:rPr lang="en-US" sz="1800" b="1" dirty="0">
                <a:solidFill>
                  <a:schemeClr val="tx2"/>
                </a:solidFill>
              </a:rPr>
              <a:t>Vos invariants</a:t>
            </a:r>
            <a:endParaRPr lang="en-US" sz="1800" dirty="0"/>
          </a:p>
        </p:txBody>
      </p:sp>
      <p:sp>
        <p:nvSpPr>
          <p:cNvPr id="7" name="Text 4"/>
          <p:cNvSpPr txBox="1"/>
          <p:nvPr/>
        </p:nvSpPr>
        <p:spPr>
          <a:xfrm>
            <a:off x="822960" y="2377440"/>
            <a:ext cx="2834640" cy="685800"/>
          </a:xfrm>
          <a:prstGeom prst="rect">
            <a:avLst/>
          </a:prstGeom>
          <a:noFill/>
          <a:ln/>
        </p:spPr>
        <p:txBody>
          <a:bodyPr wrap="square" lIns="0" tIns="0" rIns="0" bIns="0" rtlCol="0" anchor="t"/>
          <a:lstStyle/>
          <a:p>
            <a:pPr indent="0" marL="0">
              <a:buNone/>
            </a:pPr>
            <a:r>
              <a:rPr lang="en-US" sz="1500" dirty="0">
                <a:solidFill>
                  <a:schemeClr val="tx1"/>
                </a:solidFill>
              </a:rPr>
              <a:t>écrits et modifiés par vos seules équipes</a:t>
            </a:r>
            <a:endParaRPr lang="en-US" sz="1500" dirty="0"/>
          </a:p>
        </p:txBody>
      </p:sp>
      <p:sp>
        <p:nvSpPr>
          <p:cNvPr id="8" name="Text 5"/>
          <p:cNvSpPr txBox="1"/>
          <p:nvPr/>
        </p:nvSpPr>
        <p:spPr>
          <a:xfrm>
            <a:off x="822960" y="3063240"/>
            <a:ext cx="2834640" cy="27432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docs/c7e/meso-contrats.md</a:t>
            </a:r>
            <a:endParaRPr lang="en-US" sz="1200" dirty="0"/>
          </a:p>
        </p:txBody>
      </p:sp>
      <p:sp>
        <p:nvSpPr>
          <p:cNvPr id="9" name="Actif 2"/>
          <p:cNvSpPr/>
          <p:nvPr/>
        </p:nvSpPr>
        <p:spPr>
          <a:xfrm>
            <a:off x="4206240" y="1371600"/>
            <a:ext cx="3383280" cy="2103120"/>
          </a:xfrm>
          <a:prstGeom prst="roundRect">
            <a:avLst>
              <a:gd name="adj" fmla="val 5217"/>
            </a:avLst>
          </a:prstGeom>
          <a:solidFill>
            <a:schemeClr val="bg2"/>
          </a:solidFill>
          <a:ln/>
        </p:spPr>
      </p:sp>
      <p:sp>
        <p:nvSpPr>
          <p:cNvPr id="10" name="Actif 2 (pastille)"/>
          <p:cNvSpPr/>
          <p:nvPr/>
        </p:nvSpPr>
        <p:spPr>
          <a:xfrm>
            <a:off x="4480560" y="1645920"/>
            <a:ext cx="640080" cy="640080"/>
          </a:xfrm>
          <a:prstGeom prst="ellipse">
            <a:avLst/>
          </a:prstGeom>
          <a:solidFill>
            <a:schemeClr val="accent1"/>
          </a:solidFill>
          <a:ln/>
        </p:spPr>
      </p:sp>
      <p:pic>
        <p:nvPicPr>
          <p:cNvPr id="11" name="Actif 2 (icône)" descr="Une fiche par ticket">    </p:cNvPr>
          <p:cNvPicPr>
            <a:picLocks noChangeAspect="1"/>
          </p:cNvPicPr>
          <p:nvPr/>
        </p:nvPicPr>
        <p:blipFill>
          <a:blip r:embed="rId2"/>
          <a:stretch>
            <a:fillRect/>
          </a:stretch>
        </p:blipFill>
        <p:spPr>
          <a:xfrm>
            <a:off x="4608576" y="1773936"/>
            <a:ext cx="384048" cy="384048"/>
          </a:xfrm>
          <a:prstGeom prst="rect">
            <a:avLst/>
          </a:prstGeom>
        </p:spPr>
      </p:pic>
      <p:sp>
        <p:nvSpPr>
          <p:cNvPr id="12" name="Text 8"/>
          <p:cNvSpPr txBox="1"/>
          <p:nvPr/>
        </p:nvSpPr>
        <p:spPr>
          <a:xfrm>
            <a:off x="5257800" y="1645920"/>
            <a:ext cx="2194560" cy="640080"/>
          </a:xfrm>
          <a:prstGeom prst="rect">
            <a:avLst/>
          </a:prstGeom>
          <a:noFill/>
          <a:ln/>
        </p:spPr>
        <p:txBody>
          <a:bodyPr wrap="square" lIns="0" tIns="0" rIns="0" bIns="0" rtlCol="0" anchor="ctr"/>
          <a:lstStyle/>
          <a:p>
            <a:pPr indent="0" marL="0">
              <a:buNone/>
            </a:pPr>
            <a:r>
              <a:rPr lang="en-US" sz="1800" b="1" dirty="0">
                <a:solidFill>
                  <a:schemeClr val="tx2"/>
                </a:solidFill>
              </a:rPr>
              <a:t>Une fiche par ticket</a:t>
            </a:r>
            <a:endParaRPr lang="en-US" sz="1800" dirty="0"/>
          </a:p>
        </p:txBody>
      </p:sp>
      <p:sp>
        <p:nvSpPr>
          <p:cNvPr id="13" name="Text 9"/>
          <p:cNvSpPr txBox="1"/>
          <p:nvPr/>
        </p:nvSpPr>
        <p:spPr>
          <a:xfrm>
            <a:off x="4480560" y="2377440"/>
            <a:ext cx="2834640" cy="685800"/>
          </a:xfrm>
          <a:prstGeom prst="rect">
            <a:avLst/>
          </a:prstGeom>
          <a:noFill/>
          <a:ln/>
        </p:spPr>
        <p:txBody>
          <a:bodyPr wrap="square" lIns="0" tIns="0" rIns="0" bIns="0" rtlCol="0" anchor="t"/>
          <a:lstStyle/>
          <a:p>
            <a:pPr indent="0" marL="0">
              <a:buNone/>
            </a:pPr>
            <a:r>
              <a:rPr lang="en-US" sz="1500" dirty="0">
                <a:solidFill>
                  <a:schemeClr val="tx1"/>
                </a:solidFill>
              </a:rPr>
              <a:t>objectif, décisions et preuves</a:t>
            </a:r>
            <a:endParaRPr lang="en-US" sz="1500" dirty="0"/>
          </a:p>
        </p:txBody>
      </p:sp>
      <p:sp>
        <p:nvSpPr>
          <p:cNvPr id="14" name="Text 10"/>
          <p:cNvSpPr txBox="1"/>
          <p:nvPr/>
        </p:nvSpPr>
        <p:spPr>
          <a:xfrm>
            <a:off x="4480560" y="3063240"/>
            <a:ext cx="2834640" cy="27432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docs/demandes/&lt;CLÉ&gt;/</a:t>
            </a:r>
            <a:endParaRPr lang="en-US" sz="1200" dirty="0"/>
          </a:p>
        </p:txBody>
      </p:sp>
      <p:sp>
        <p:nvSpPr>
          <p:cNvPr id="15" name="Actif 3"/>
          <p:cNvSpPr/>
          <p:nvPr/>
        </p:nvSpPr>
        <p:spPr>
          <a:xfrm>
            <a:off x="548640" y="3703320"/>
            <a:ext cx="3383280" cy="2103120"/>
          </a:xfrm>
          <a:prstGeom prst="roundRect">
            <a:avLst>
              <a:gd name="adj" fmla="val 5217"/>
            </a:avLst>
          </a:prstGeom>
          <a:solidFill>
            <a:schemeClr val="bg2"/>
          </a:solidFill>
          <a:ln/>
        </p:spPr>
      </p:sp>
      <p:sp>
        <p:nvSpPr>
          <p:cNvPr id="16" name="Actif 3 (pastille)"/>
          <p:cNvSpPr/>
          <p:nvPr/>
        </p:nvSpPr>
        <p:spPr>
          <a:xfrm>
            <a:off x="822960" y="3977640"/>
            <a:ext cx="640080" cy="640080"/>
          </a:xfrm>
          <a:prstGeom prst="ellipse">
            <a:avLst/>
          </a:prstGeom>
          <a:solidFill>
            <a:schemeClr val="accent1"/>
          </a:solidFill>
          <a:ln/>
        </p:spPr>
      </p:sp>
      <p:pic>
        <p:nvPicPr>
          <p:cNvPr id="17" name="Actif 3 (icône)" descr="Les acquis du projet">    </p:cNvPr>
          <p:cNvPicPr>
            <a:picLocks noChangeAspect="1"/>
          </p:cNvPicPr>
          <p:nvPr/>
        </p:nvPicPr>
        <p:blipFill>
          <a:blip r:embed="rId3"/>
          <a:stretch>
            <a:fillRect/>
          </a:stretch>
        </p:blipFill>
        <p:spPr>
          <a:xfrm>
            <a:off x="950976" y="4105656"/>
            <a:ext cx="384048" cy="384048"/>
          </a:xfrm>
          <a:prstGeom prst="rect">
            <a:avLst/>
          </a:prstGeom>
        </p:spPr>
      </p:pic>
      <p:sp>
        <p:nvSpPr>
          <p:cNvPr id="18" name="Text 13"/>
          <p:cNvSpPr txBox="1"/>
          <p:nvPr/>
        </p:nvSpPr>
        <p:spPr>
          <a:xfrm>
            <a:off x="1600200" y="3977640"/>
            <a:ext cx="2194560" cy="640080"/>
          </a:xfrm>
          <a:prstGeom prst="rect">
            <a:avLst/>
          </a:prstGeom>
          <a:noFill/>
          <a:ln/>
        </p:spPr>
        <p:txBody>
          <a:bodyPr wrap="square" lIns="0" tIns="0" rIns="0" bIns="0" rtlCol="0" anchor="ctr"/>
          <a:lstStyle/>
          <a:p>
            <a:pPr indent="0" marL="0">
              <a:buNone/>
            </a:pPr>
            <a:r>
              <a:rPr lang="en-US" sz="1800" b="1" dirty="0">
                <a:solidFill>
                  <a:schemeClr val="tx2"/>
                </a:solidFill>
              </a:rPr>
              <a:t>Les acquis du projet</a:t>
            </a:r>
            <a:endParaRPr lang="en-US" sz="1800" dirty="0"/>
          </a:p>
        </p:txBody>
      </p:sp>
      <p:sp>
        <p:nvSpPr>
          <p:cNvPr id="19" name="Text 14"/>
          <p:cNvSpPr txBox="1"/>
          <p:nvPr/>
        </p:nvSpPr>
        <p:spPr>
          <a:xfrm>
            <a:off x="822960" y="4709160"/>
            <a:ext cx="2834640" cy="685800"/>
          </a:xfrm>
          <a:prstGeom prst="rect">
            <a:avLst/>
          </a:prstGeom>
          <a:noFill/>
          <a:ln/>
        </p:spPr>
        <p:txBody>
          <a:bodyPr wrap="square" lIns="0" tIns="0" rIns="0" bIns="0" rtlCol="0" anchor="t"/>
          <a:lstStyle/>
          <a:p>
            <a:pPr indent="0" marL="0">
              <a:buNone/>
            </a:pPr>
            <a:r>
              <a:rPr lang="en-US" sz="1500" dirty="0">
                <a:solidFill>
                  <a:schemeClr val="tx1"/>
                </a:solidFill>
              </a:rPr>
              <a:t>règles ratifiées, écarts justifiés, connaissances</a:t>
            </a:r>
            <a:endParaRPr lang="en-US" sz="1500" dirty="0"/>
          </a:p>
        </p:txBody>
      </p:sp>
      <p:sp>
        <p:nvSpPr>
          <p:cNvPr id="20" name="Text 15"/>
          <p:cNvSpPr txBox="1"/>
          <p:nvPr/>
        </p:nvSpPr>
        <p:spPr>
          <a:xfrm>
            <a:off x="822960" y="5394960"/>
            <a:ext cx="2834640" cy="27432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docs/c7e/</a:t>
            </a:r>
            <a:endParaRPr lang="en-US" sz="1200" dirty="0"/>
          </a:p>
        </p:txBody>
      </p:sp>
      <p:sp>
        <p:nvSpPr>
          <p:cNvPr id="21" name="Actif 4"/>
          <p:cNvSpPr/>
          <p:nvPr/>
        </p:nvSpPr>
        <p:spPr>
          <a:xfrm>
            <a:off x="4206240" y="3703320"/>
            <a:ext cx="3383280" cy="2103120"/>
          </a:xfrm>
          <a:prstGeom prst="roundRect">
            <a:avLst>
              <a:gd name="adj" fmla="val 5217"/>
            </a:avLst>
          </a:prstGeom>
          <a:solidFill>
            <a:schemeClr val="bg2"/>
          </a:solidFill>
          <a:ln/>
        </p:spPr>
      </p:sp>
      <p:sp>
        <p:nvSpPr>
          <p:cNvPr id="22" name="Actif 4 (pastille)"/>
          <p:cNvSpPr/>
          <p:nvPr/>
        </p:nvSpPr>
        <p:spPr>
          <a:xfrm>
            <a:off x="4480560" y="3977640"/>
            <a:ext cx="640080" cy="640080"/>
          </a:xfrm>
          <a:prstGeom prst="ellipse">
            <a:avLst/>
          </a:prstGeom>
          <a:solidFill>
            <a:schemeClr val="accent1"/>
          </a:solidFill>
          <a:ln/>
        </p:spPr>
      </p:sp>
      <p:pic>
        <p:nvPicPr>
          <p:cNvPr id="23" name="Actif 4 (icône)" descr="Code et tests">    </p:cNvPr>
          <p:cNvPicPr>
            <a:picLocks noChangeAspect="1"/>
          </p:cNvPicPr>
          <p:nvPr/>
        </p:nvPicPr>
        <p:blipFill>
          <a:blip r:embed="rId4"/>
          <a:stretch>
            <a:fillRect/>
          </a:stretch>
        </p:blipFill>
        <p:spPr>
          <a:xfrm>
            <a:off x="4608576" y="4105656"/>
            <a:ext cx="384048" cy="384048"/>
          </a:xfrm>
          <a:prstGeom prst="rect">
            <a:avLst/>
          </a:prstGeom>
        </p:spPr>
      </p:pic>
      <p:sp>
        <p:nvSpPr>
          <p:cNvPr id="24" name="Text 18"/>
          <p:cNvSpPr txBox="1"/>
          <p:nvPr/>
        </p:nvSpPr>
        <p:spPr>
          <a:xfrm>
            <a:off x="5257800" y="3977640"/>
            <a:ext cx="2194560" cy="640080"/>
          </a:xfrm>
          <a:prstGeom prst="rect">
            <a:avLst/>
          </a:prstGeom>
          <a:noFill/>
          <a:ln/>
        </p:spPr>
        <p:txBody>
          <a:bodyPr wrap="square" lIns="0" tIns="0" rIns="0" bIns="0" rtlCol="0" anchor="ctr"/>
          <a:lstStyle/>
          <a:p>
            <a:pPr indent="0" marL="0">
              <a:buNone/>
            </a:pPr>
            <a:r>
              <a:rPr lang="en-US" sz="1800" b="1" dirty="0">
                <a:solidFill>
                  <a:schemeClr val="tx2"/>
                </a:solidFill>
              </a:rPr>
              <a:t>Code et tests</a:t>
            </a:r>
            <a:endParaRPr lang="en-US" sz="1800" dirty="0"/>
          </a:p>
        </p:txBody>
      </p:sp>
      <p:sp>
        <p:nvSpPr>
          <p:cNvPr id="25" name="Text 19"/>
          <p:cNvSpPr txBox="1"/>
          <p:nvPr/>
        </p:nvSpPr>
        <p:spPr>
          <a:xfrm>
            <a:off x="4480560" y="4709160"/>
            <a:ext cx="2834640" cy="685800"/>
          </a:xfrm>
          <a:prstGeom prst="rect">
            <a:avLst/>
          </a:prstGeom>
          <a:noFill/>
          <a:ln/>
        </p:spPr>
        <p:txBody>
          <a:bodyPr wrap="square" lIns="0" tIns="0" rIns="0" bIns="0" rtlCol="0" anchor="t"/>
          <a:lstStyle/>
          <a:p>
            <a:pPr indent="0" marL="0">
              <a:buNone/>
            </a:pPr>
            <a:r>
              <a:rPr lang="en-US" sz="1500" dirty="0">
                <a:solidFill>
                  <a:schemeClr val="tx1"/>
                </a:solidFill>
              </a:rPr>
              <a:t>une branche par ticket, aucun test supprimé sans accord</a:t>
            </a:r>
            <a:endParaRPr lang="en-US" sz="1500" dirty="0"/>
          </a:p>
        </p:txBody>
      </p:sp>
      <p:sp>
        <p:nvSpPr>
          <p:cNvPr id="26" name="Text 20"/>
          <p:cNvSpPr txBox="1"/>
          <p:nvPr/>
        </p:nvSpPr>
        <p:spPr>
          <a:xfrm>
            <a:off x="4480560" y="5394960"/>
            <a:ext cx="2834640" cy="27432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vos dépôts Git</a:t>
            </a:r>
            <a:endParaRPr lang="en-US" sz="1200" dirty="0"/>
          </a:p>
        </p:txBody>
      </p:sp>
      <p:sp>
        <p:nvSpPr>
          <p:cNvPr id="27" name="Message 1"/>
          <p:cNvSpPr/>
          <p:nvPr/>
        </p:nvSpPr>
        <p:spPr>
          <a:xfrm>
            <a:off x="7955280" y="1371600"/>
            <a:ext cx="3657600" cy="2103120"/>
          </a:xfrm>
          <a:prstGeom prst="roundRect">
            <a:avLst>
              <a:gd name="adj" fmla="val 5217"/>
            </a:avLst>
          </a:prstGeom>
          <a:solidFill>
            <a:schemeClr val="accent2">
              <a:alpha val="20000"/>
            </a:schemeClr>
          </a:solidFill>
          <a:ln/>
        </p:spPr>
      </p:sp>
      <p:sp>
        <p:nvSpPr>
          <p:cNvPr id="28" name="Message 1 (pastille)"/>
          <p:cNvSpPr/>
          <p:nvPr/>
        </p:nvSpPr>
        <p:spPr>
          <a:xfrm>
            <a:off x="8183880" y="1600200"/>
            <a:ext cx="548640" cy="548640"/>
          </a:xfrm>
          <a:prstGeom prst="ellipse">
            <a:avLst/>
          </a:prstGeom>
          <a:solidFill>
            <a:schemeClr val="accent1"/>
          </a:solidFill>
          <a:ln/>
        </p:spPr>
      </p:sp>
      <p:pic>
        <p:nvPicPr>
          <p:cNvPr id="29" name="Message 1 (icône)" descr="Si l'équipe change, tout reste">    </p:cNvPr>
          <p:cNvPicPr>
            <a:picLocks noChangeAspect="1"/>
          </p:cNvPicPr>
          <p:nvPr/>
        </p:nvPicPr>
        <p:blipFill>
          <a:blip r:embed="rId5"/>
          <a:stretch>
            <a:fillRect/>
          </a:stretch>
        </p:blipFill>
        <p:spPr>
          <a:xfrm>
            <a:off x="8293608" y="1709928"/>
            <a:ext cx="329184" cy="329184"/>
          </a:xfrm>
          <a:prstGeom prst="rect">
            <a:avLst/>
          </a:prstGeom>
        </p:spPr>
      </p:pic>
      <p:sp>
        <p:nvSpPr>
          <p:cNvPr id="30" name="Text 23"/>
          <p:cNvSpPr txBox="1"/>
          <p:nvPr/>
        </p:nvSpPr>
        <p:spPr>
          <a:xfrm>
            <a:off x="8869680" y="1600200"/>
            <a:ext cx="2560320" cy="548640"/>
          </a:xfrm>
          <a:prstGeom prst="rect">
            <a:avLst/>
          </a:prstGeom>
          <a:noFill/>
          <a:ln/>
        </p:spPr>
        <p:txBody>
          <a:bodyPr wrap="square" lIns="0" tIns="0" rIns="0" bIns="0" rtlCol="0" anchor="ctr"/>
          <a:lstStyle/>
          <a:p>
            <a:pPr indent="0" marL="0">
              <a:buNone/>
            </a:pPr>
            <a:r>
              <a:rPr lang="en-US" sz="1600" b="1" dirty="0">
                <a:solidFill>
                  <a:schemeClr val="tx2"/>
                </a:solidFill>
              </a:rPr>
              <a:t>Si l'équipe change, tout reste</a:t>
            </a:r>
            <a:endParaRPr lang="en-US" sz="1600" dirty="0"/>
          </a:p>
        </p:txBody>
      </p:sp>
      <p:sp>
        <p:nvSpPr>
          <p:cNvPr id="31" name="Text 24"/>
          <p:cNvSpPr txBox="1"/>
          <p:nvPr/>
        </p:nvSpPr>
        <p:spPr>
          <a:xfrm>
            <a:off x="8183880" y="2286000"/>
            <a:ext cx="3200400" cy="1051560"/>
          </a:xfrm>
          <a:prstGeom prst="rect">
            <a:avLst/>
          </a:prstGeom>
          <a:noFill/>
          <a:ln/>
        </p:spPr>
        <p:txBody>
          <a:bodyPr wrap="square" lIns="0" tIns="0" rIns="0" bIns="0" rtlCol="0" anchor="t"/>
          <a:lstStyle/>
          <a:p>
            <a:pPr indent="0" marL="0">
              <a:buNone/>
            </a:pPr>
            <a:r>
              <a:rPr lang="en-US" sz="1500" dirty="0">
                <a:solidFill>
                  <a:schemeClr val="tx1"/>
                </a:solidFill>
              </a:rPr>
              <a:t>La connaissance du projet ne part plus avec les personnes : c'est un actif versionné, qui s'enrichit à chaque ticket.</a:t>
            </a:r>
            <a:endParaRPr lang="en-US" sz="1500" dirty="0"/>
          </a:p>
        </p:txBody>
      </p:sp>
      <p:sp>
        <p:nvSpPr>
          <p:cNvPr id="32" name="Message 2"/>
          <p:cNvSpPr/>
          <p:nvPr/>
        </p:nvSpPr>
        <p:spPr>
          <a:xfrm>
            <a:off x="7955280" y="3703320"/>
            <a:ext cx="3657600" cy="2103120"/>
          </a:xfrm>
          <a:prstGeom prst="roundRect">
            <a:avLst>
              <a:gd name="adj" fmla="val 5217"/>
            </a:avLst>
          </a:prstGeom>
          <a:solidFill>
            <a:schemeClr val="accent2">
              <a:alpha val="20000"/>
            </a:schemeClr>
          </a:solidFill>
          <a:ln/>
        </p:spPr>
      </p:sp>
      <p:sp>
        <p:nvSpPr>
          <p:cNvPr id="33" name="Message 2 (pastille)"/>
          <p:cNvSpPr/>
          <p:nvPr/>
        </p:nvSpPr>
        <p:spPr>
          <a:xfrm>
            <a:off x="8183880" y="3931920"/>
            <a:ext cx="548640" cy="548640"/>
          </a:xfrm>
          <a:prstGeom prst="ellipse">
            <a:avLst/>
          </a:prstGeom>
          <a:solidFill>
            <a:schemeClr val="accent1"/>
          </a:solidFill>
          <a:ln/>
        </p:spPr>
      </p:sp>
      <p:pic>
        <p:nvPicPr>
          <p:cNvPr id="34" name="Message 2 (icône)" descr="Rien de vous dans le générique">    </p:cNvPr>
          <p:cNvPicPr>
            <a:picLocks noChangeAspect="1"/>
          </p:cNvPicPr>
          <p:nvPr/>
        </p:nvPicPr>
        <p:blipFill>
          <a:blip r:embed="rId6"/>
          <a:stretch>
            <a:fillRect/>
          </a:stretch>
        </p:blipFill>
        <p:spPr>
          <a:xfrm>
            <a:off x="8293608" y="4041648"/>
            <a:ext cx="329184" cy="329184"/>
          </a:xfrm>
          <a:prstGeom prst="rect">
            <a:avLst/>
          </a:prstGeom>
        </p:spPr>
      </p:pic>
      <p:sp>
        <p:nvSpPr>
          <p:cNvPr id="35" name="Text 27"/>
          <p:cNvSpPr txBox="1"/>
          <p:nvPr/>
        </p:nvSpPr>
        <p:spPr>
          <a:xfrm>
            <a:off x="8869680" y="3931920"/>
            <a:ext cx="2560320" cy="548640"/>
          </a:xfrm>
          <a:prstGeom prst="rect">
            <a:avLst/>
          </a:prstGeom>
          <a:noFill/>
          <a:ln/>
        </p:spPr>
        <p:txBody>
          <a:bodyPr wrap="square" lIns="0" tIns="0" rIns="0" bIns="0" rtlCol="0" anchor="ctr"/>
          <a:lstStyle/>
          <a:p>
            <a:pPr indent="0" marL="0">
              <a:buNone/>
            </a:pPr>
            <a:r>
              <a:rPr lang="en-US" sz="1600" b="1" dirty="0">
                <a:solidFill>
                  <a:schemeClr val="tx2"/>
                </a:solidFill>
              </a:rPr>
              <a:t>Rien de vous dans le générique</a:t>
            </a:r>
            <a:endParaRPr lang="en-US" sz="1600" dirty="0"/>
          </a:p>
        </p:txBody>
      </p:sp>
      <p:sp>
        <p:nvSpPr>
          <p:cNvPr id="36" name="Text 28"/>
          <p:cNvSpPr txBox="1"/>
          <p:nvPr/>
        </p:nvSpPr>
        <p:spPr>
          <a:xfrm>
            <a:off x="8183880" y="4617720"/>
            <a:ext cx="3200400" cy="1051560"/>
          </a:xfrm>
          <a:prstGeom prst="rect">
            <a:avLst/>
          </a:prstGeom>
          <a:noFill/>
          <a:ln/>
        </p:spPr>
        <p:txBody>
          <a:bodyPr wrap="square" lIns="0" tIns="0" rIns="0" bIns="0" rtlCol="0" anchor="t"/>
          <a:lstStyle/>
          <a:p>
            <a:pPr indent="0" marL="0">
              <a:buNone/>
            </a:pPr>
            <a:r>
              <a:rPr lang="en-US" sz="1500" dirty="0">
                <a:solidFill>
                  <a:schemeClr val="tx1"/>
                </a:solidFill>
              </a:rPr>
              <a:t>La méthode et les outils ne contiennent aucune donnée de votre projet ; ce qui lui est propre est dans vos dépôts.</a:t>
            </a:r>
            <a:endParaRPr lang="en-US" sz="15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L'IA propose, vos équipes décident</a:t>
            </a:r>
            <a:endParaRPr lang="en-US" sz="3600" dirty="0"/>
          </a:p>
        </p:txBody>
      </p:sp>
      <p:sp>
        <p:nvSpPr>
          <p:cNvPr id="3" name="Étape 1"/>
          <p:cNvSpPr txBox="1"/>
          <p:nvPr/>
        </p:nvSpPr>
        <p:spPr>
          <a:xfrm>
            <a:off x="548640" y="1463040"/>
            <a:ext cx="1508760" cy="1143000"/>
          </a:xfrm>
          <a:prstGeom prst="roundRect">
            <a:avLst>
              <a:gd name="adj" fmla="val 8000"/>
            </a:avLst>
          </a:prstGeom>
          <a:solidFill>
            <a:schemeClr val="bg2"/>
          </a:solidFill>
          <a:ln/>
        </p:spPr>
        <p:txBody>
          <a:bodyPr wrap="square" lIns="1016" tIns="1016" rIns="1016" bIns="1016" rtlCol="0" anchor="ctr"/>
          <a:lstStyle/>
          <a:p>
            <a:pPr algn="ctr" indent="0" marL="0">
              <a:buNone/>
            </a:pPr>
            <a:r>
              <a:rPr lang="en-US" sz="1400" dirty="0">
                <a:solidFill>
                  <a:schemeClr val="tx1"/>
                </a:solidFill>
              </a:rPr>
              <a:t>L'IA analyse et rédige la fiche</a:t>
            </a:r>
            <a:endParaRPr lang="en-US" sz="1400" dirty="0"/>
          </a:p>
        </p:txBody>
      </p:sp>
      <p:sp>
        <p:nvSpPr>
          <p:cNvPr id="4" name="Étape flèche 1"/>
          <p:cNvSpPr/>
          <p:nvPr/>
        </p:nvSpPr>
        <p:spPr>
          <a:xfrm>
            <a:off x="2057400" y="2034540"/>
            <a:ext cx="274320" cy="0"/>
          </a:xfrm>
          <a:prstGeom prst="line">
            <a:avLst/>
          </a:prstGeom>
          <a:noFill/>
          <a:ln w="22225">
            <a:solidFill>
              <a:schemeClr val="accent5"/>
            </a:solidFill>
            <a:prstDash val="solid"/>
            <a:tailEnd type="triangle"/>
          </a:ln>
        </p:spPr>
      </p:sp>
      <p:sp>
        <p:nvSpPr>
          <p:cNvPr id="5" name="Étape 2"/>
          <p:cNvSpPr txBox="1"/>
          <p:nvPr/>
        </p:nvSpPr>
        <p:spPr>
          <a:xfrm>
            <a:off x="2331720" y="1463040"/>
            <a:ext cx="1828800" cy="1143000"/>
          </a:xfrm>
          <a:prstGeom prst="hexagon">
            <a:avLst/>
          </a:prstGeom>
          <a:solidFill>
            <a:schemeClr val="tx2"/>
          </a:solidFill>
          <a:ln/>
        </p:spPr>
        <p:txBody>
          <a:bodyPr wrap="square" lIns="635" tIns="635" rIns="635" bIns="635" rtlCol="0" anchor="ctr"/>
          <a:lstStyle/>
          <a:p>
            <a:pPr algn="ctr" indent="0" marL="0">
              <a:buNone/>
            </a:pPr>
            <a:r>
              <a:rPr lang="en-US" sz="1400" b="1" dirty="0">
                <a:solidFill>
                  <a:schemeClr val="bg1"/>
                </a:solidFill>
              </a:rPr>
              <a:t>Le développeur valide la fiche</a:t>
            </a:r>
            <a:endParaRPr lang="en-US" sz="1400" dirty="0"/>
          </a:p>
        </p:txBody>
      </p:sp>
      <p:sp>
        <p:nvSpPr>
          <p:cNvPr id="6" name="Étape flèche 2"/>
          <p:cNvSpPr/>
          <p:nvPr/>
        </p:nvSpPr>
        <p:spPr>
          <a:xfrm>
            <a:off x="4160520" y="2034540"/>
            <a:ext cx="274320" cy="0"/>
          </a:xfrm>
          <a:prstGeom prst="line">
            <a:avLst/>
          </a:prstGeom>
          <a:noFill/>
          <a:ln w="22225">
            <a:solidFill>
              <a:schemeClr val="accent5"/>
            </a:solidFill>
            <a:prstDash val="solid"/>
            <a:tailEnd type="triangle"/>
          </a:ln>
        </p:spPr>
      </p:sp>
      <p:sp>
        <p:nvSpPr>
          <p:cNvPr id="7" name="Étape 3"/>
          <p:cNvSpPr txBox="1"/>
          <p:nvPr/>
        </p:nvSpPr>
        <p:spPr>
          <a:xfrm>
            <a:off x="4434840" y="1463040"/>
            <a:ext cx="1508760" cy="1143000"/>
          </a:xfrm>
          <a:prstGeom prst="roundRect">
            <a:avLst>
              <a:gd name="adj" fmla="val 8000"/>
            </a:avLst>
          </a:prstGeom>
          <a:solidFill>
            <a:schemeClr val="bg2"/>
          </a:solidFill>
          <a:ln/>
        </p:spPr>
        <p:txBody>
          <a:bodyPr wrap="square" lIns="1016" tIns="1016" rIns="1016" bIns="1016" rtlCol="0" anchor="ctr"/>
          <a:lstStyle/>
          <a:p>
            <a:pPr algn="ctr" indent="0" marL="0">
              <a:buNone/>
            </a:pPr>
            <a:r>
              <a:rPr lang="en-US" sz="1400" dirty="0">
                <a:solidFill>
                  <a:schemeClr val="tx1"/>
                </a:solidFill>
              </a:rPr>
              <a:t>L'IA transforme par étapes, contrôles à chaque niveau</a:t>
            </a:r>
            <a:endParaRPr lang="en-US" sz="1400" dirty="0"/>
          </a:p>
        </p:txBody>
      </p:sp>
      <p:sp>
        <p:nvSpPr>
          <p:cNvPr id="8" name="Étape flèche 3"/>
          <p:cNvSpPr/>
          <p:nvPr/>
        </p:nvSpPr>
        <p:spPr>
          <a:xfrm>
            <a:off x="5943600" y="2034540"/>
            <a:ext cx="274320" cy="0"/>
          </a:xfrm>
          <a:prstGeom prst="line">
            <a:avLst/>
          </a:prstGeom>
          <a:noFill/>
          <a:ln w="22225">
            <a:solidFill>
              <a:schemeClr val="accent5"/>
            </a:solidFill>
            <a:prstDash val="solid"/>
            <a:tailEnd type="triangle"/>
          </a:ln>
        </p:spPr>
      </p:sp>
      <p:sp>
        <p:nvSpPr>
          <p:cNvPr id="9" name="Étape 4"/>
          <p:cNvSpPr txBox="1"/>
          <p:nvPr/>
        </p:nvSpPr>
        <p:spPr>
          <a:xfrm>
            <a:off x="6217920" y="1463040"/>
            <a:ext cx="1508760" cy="1143000"/>
          </a:xfrm>
          <a:prstGeom prst="roundRect">
            <a:avLst>
              <a:gd name="adj" fmla="val 8000"/>
            </a:avLst>
          </a:prstGeom>
          <a:solidFill>
            <a:schemeClr val="bg2"/>
          </a:solidFill>
          <a:ln/>
        </p:spPr>
        <p:txBody>
          <a:bodyPr wrap="square" lIns="1016" tIns="1016" rIns="1016" bIns="1016" rtlCol="0" anchor="ctr"/>
          <a:lstStyle/>
          <a:p>
            <a:pPr algn="ctr" indent="0" marL="0">
              <a:buNone/>
            </a:pPr>
            <a:r>
              <a:rPr lang="en-US" sz="1400" dirty="0">
                <a:solidFill>
                  <a:schemeClr val="tx1"/>
                </a:solidFill>
              </a:rPr>
              <a:t>Preuves et registre des écarts</a:t>
            </a:r>
            <a:endParaRPr lang="en-US" sz="1400" dirty="0"/>
          </a:p>
        </p:txBody>
      </p:sp>
      <p:sp>
        <p:nvSpPr>
          <p:cNvPr id="10" name="Étape flèche 4"/>
          <p:cNvSpPr/>
          <p:nvPr/>
        </p:nvSpPr>
        <p:spPr>
          <a:xfrm>
            <a:off x="7726680" y="2034540"/>
            <a:ext cx="274320" cy="0"/>
          </a:xfrm>
          <a:prstGeom prst="line">
            <a:avLst/>
          </a:prstGeom>
          <a:noFill/>
          <a:ln w="22225">
            <a:solidFill>
              <a:schemeClr val="accent5"/>
            </a:solidFill>
            <a:prstDash val="solid"/>
            <a:tailEnd type="triangle"/>
          </a:ln>
        </p:spPr>
      </p:sp>
      <p:sp>
        <p:nvSpPr>
          <p:cNvPr id="11" name="Étape 5"/>
          <p:cNvSpPr txBox="1"/>
          <p:nvPr/>
        </p:nvSpPr>
        <p:spPr>
          <a:xfrm>
            <a:off x="8001000" y="1463040"/>
            <a:ext cx="1828800" cy="1143000"/>
          </a:xfrm>
          <a:prstGeom prst="hexagon">
            <a:avLst/>
          </a:prstGeom>
          <a:solidFill>
            <a:schemeClr val="tx2"/>
          </a:solidFill>
          <a:ln/>
        </p:spPr>
        <p:txBody>
          <a:bodyPr wrap="square" lIns="635" tIns="635" rIns="635" bIns="635" rtlCol="0" anchor="ctr"/>
          <a:lstStyle/>
          <a:p>
            <a:pPr algn="ctr" indent="0" marL="0">
              <a:buNone/>
            </a:pPr>
            <a:r>
              <a:rPr lang="en-US" sz="1400" b="1" dirty="0">
                <a:solidFill>
                  <a:schemeClr val="bg1"/>
                </a:solidFill>
              </a:rPr>
              <a:t>Le développeur relit, pousse et fusionne</a:t>
            </a:r>
            <a:endParaRPr lang="en-US" sz="1400" dirty="0"/>
          </a:p>
        </p:txBody>
      </p:sp>
      <p:sp>
        <p:nvSpPr>
          <p:cNvPr id="12" name="Étape flèche 5"/>
          <p:cNvSpPr/>
          <p:nvPr/>
        </p:nvSpPr>
        <p:spPr>
          <a:xfrm>
            <a:off x="9829800" y="2034540"/>
            <a:ext cx="274320" cy="0"/>
          </a:xfrm>
          <a:prstGeom prst="line">
            <a:avLst/>
          </a:prstGeom>
          <a:noFill/>
          <a:ln w="22225">
            <a:solidFill>
              <a:schemeClr val="accent5"/>
            </a:solidFill>
            <a:prstDash val="solid"/>
            <a:tailEnd type="triangle"/>
          </a:ln>
        </p:spPr>
      </p:sp>
      <p:sp>
        <p:nvSpPr>
          <p:cNvPr id="13" name="Étape 6"/>
          <p:cNvSpPr txBox="1"/>
          <p:nvPr/>
        </p:nvSpPr>
        <p:spPr>
          <a:xfrm>
            <a:off x="10104120" y="1463040"/>
            <a:ext cx="1508760" cy="1143000"/>
          </a:xfrm>
          <a:prstGeom prst="roundRect">
            <a:avLst>
              <a:gd name="adj" fmla="val 8000"/>
            </a:avLst>
          </a:prstGeom>
          <a:solidFill>
            <a:schemeClr val="accent1"/>
          </a:solidFill>
          <a:ln/>
        </p:spPr>
        <p:txBody>
          <a:bodyPr wrap="square" lIns="1016" tIns="1016" rIns="1016" bIns="1016" rtlCol="0" anchor="ctr"/>
          <a:lstStyle/>
          <a:p>
            <a:pPr algn="ctr" indent="0" marL="0">
              <a:buNone/>
            </a:pPr>
            <a:r>
              <a:rPr lang="en-US" sz="1400" b="1" dirty="0">
                <a:solidFill>
                  <a:schemeClr val="bg1"/>
                </a:solidFill>
              </a:rPr>
              <a:t>Livraison</a:t>
            </a:r>
            <a:endParaRPr lang="en-US" sz="1400" dirty="0"/>
          </a:p>
        </p:txBody>
      </p:sp>
      <p:sp>
        <p:nvSpPr>
          <p:cNvPr id="14" name="Légende humain"/>
          <p:cNvSpPr/>
          <p:nvPr/>
        </p:nvSpPr>
        <p:spPr>
          <a:xfrm>
            <a:off x="548640" y="2816352"/>
            <a:ext cx="365760" cy="274320"/>
          </a:xfrm>
          <a:prstGeom prst="hexagon">
            <a:avLst/>
          </a:prstGeom>
          <a:solidFill>
            <a:schemeClr val="tx2"/>
          </a:solidFill>
          <a:ln/>
        </p:spPr>
      </p:sp>
      <p:sp>
        <p:nvSpPr>
          <p:cNvPr id="15" name="Text 13"/>
          <p:cNvSpPr txBox="1"/>
          <p:nvPr/>
        </p:nvSpPr>
        <p:spPr>
          <a:xfrm>
            <a:off x="1005840" y="2788920"/>
            <a:ext cx="2011680" cy="329184"/>
          </a:xfrm>
          <a:prstGeom prst="rect">
            <a:avLst/>
          </a:prstGeom>
          <a:noFill/>
          <a:ln/>
        </p:spPr>
        <p:txBody>
          <a:bodyPr wrap="square" lIns="0" tIns="0" rIns="0" bIns="0" rtlCol="0" anchor="ctr"/>
          <a:lstStyle/>
          <a:p>
            <a:pPr indent="0" marL="0">
              <a:buNone/>
            </a:pPr>
            <a:r>
              <a:rPr lang="en-US" sz="1200" dirty="0">
                <a:solidFill>
                  <a:schemeClr val="accent6"/>
                </a:solidFill>
              </a:rPr>
              <a:t>décision humaine</a:t>
            </a:r>
            <a:endParaRPr lang="en-US" sz="1200" dirty="0"/>
          </a:p>
        </p:txBody>
      </p:sp>
      <p:sp>
        <p:nvSpPr>
          <p:cNvPr id="16" name="Légende IA"/>
          <p:cNvSpPr/>
          <p:nvPr/>
        </p:nvSpPr>
        <p:spPr>
          <a:xfrm>
            <a:off x="3108960" y="2816352"/>
            <a:ext cx="365760" cy="274320"/>
          </a:xfrm>
          <a:prstGeom prst="roundRect">
            <a:avLst>
              <a:gd name="adj" fmla="val 16667"/>
            </a:avLst>
          </a:prstGeom>
          <a:solidFill>
            <a:schemeClr val="bg2"/>
          </a:solidFill>
          <a:ln/>
        </p:spPr>
      </p:sp>
      <p:sp>
        <p:nvSpPr>
          <p:cNvPr id="17" name="Text 15"/>
          <p:cNvSpPr txBox="1"/>
          <p:nvPr/>
        </p:nvSpPr>
        <p:spPr>
          <a:xfrm>
            <a:off x="3566160" y="2788920"/>
            <a:ext cx="2011680" cy="329184"/>
          </a:xfrm>
          <a:prstGeom prst="rect">
            <a:avLst/>
          </a:prstGeom>
          <a:noFill/>
          <a:ln/>
        </p:spPr>
        <p:txBody>
          <a:bodyPr wrap="square" lIns="0" tIns="0" rIns="0" bIns="0" rtlCol="0" anchor="ctr"/>
          <a:lstStyle/>
          <a:p>
            <a:pPr indent="0" marL="0">
              <a:buNone/>
            </a:pPr>
            <a:r>
              <a:rPr lang="en-US" sz="1200" dirty="0">
                <a:solidFill>
                  <a:schemeClr val="accent6"/>
                </a:solidFill>
              </a:rPr>
              <a:t>travail de l'IA</a:t>
            </a:r>
            <a:endParaRPr lang="en-US" sz="1200" dirty="0"/>
          </a:p>
        </p:txBody>
      </p:sp>
      <p:sp>
        <p:nvSpPr>
          <p:cNvPr id="18" name="Règle 1 (pastille)"/>
          <p:cNvSpPr/>
          <p:nvPr/>
        </p:nvSpPr>
        <p:spPr>
          <a:xfrm>
            <a:off x="548640" y="3419856"/>
            <a:ext cx="384048" cy="384048"/>
          </a:xfrm>
          <a:prstGeom prst="ellipse">
            <a:avLst/>
          </a:prstGeom>
          <a:solidFill>
            <a:schemeClr val="accent1"/>
          </a:solidFill>
          <a:ln/>
        </p:spPr>
      </p:sp>
      <p:pic>
        <p:nvPicPr>
          <p:cNvPr id="19" name="Règle 1 (icône)" descr="Règle">    </p:cNvPr>
          <p:cNvPicPr>
            <a:picLocks noChangeAspect="1"/>
          </p:cNvPicPr>
          <p:nvPr/>
        </p:nvPicPr>
        <p:blipFill>
          <a:blip r:embed="rId1"/>
          <a:stretch>
            <a:fillRect/>
          </a:stretch>
        </p:blipFill>
        <p:spPr>
          <a:xfrm>
            <a:off x="625450" y="3496666"/>
            <a:ext cx="230429" cy="230429"/>
          </a:xfrm>
          <a:prstGeom prst="rect">
            <a:avLst/>
          </a:prstGeom>
        </p:spPr>
      </p:pic>
      <p:sp>
        <p:nvSpPr>
          <p:cNvPr id="20" name="Text 17"/>
          <p:cNvSpPr txBox="1"/>
          <p:nvPr/>
        </p:nvSpPr>
        <p:spPr>
          <a:xfrm>
            <a:off x="1097280" y="3383280"/>
            <a:ext cx="10515600" cy="457200"/>
          </a:xfrm>
          <a:prstGeom prst="rect">
            <a:avLst/>
          </a:prstGeom>
          <a:noFill/>
          <a:ln/>
        </p:spPr>
        <p:txBody>
          <a:bodyPr wrap="square" lIns="0" tIns="0" rIns="0" bIns="0" rtlCol="0" anchor="ctr"/>
          <a:lstStyle/>
          <a:p>
            <a:pPr indent="0" marL="0">
              <a:buNone/>
            </a:pPr>
            <a:r>
              <a:rPr lang="en-US" sz="1600" dirty="0">
                <a:solidFill>
                  <a:schemeClr val="tx1"/>
                </a:solidFill>
              </a:rPr>
              <a:t>Aucune modification du projet avant la validation de la fiche.</a:t>
            </a:r>
            <a:endParaRPr lang="en-US" sz="1600" dirty="0"/>
          </a:p>
        </p:txBody>
      </p:sp>
      <p:sp>
        <p:nvSpPr>
          <p:cNvPr id="21" name="Règle 2 (pastille)"/>
          <p:cNvSpPr/>
          <p:nvPr/>
        </p:nvSpPr>
        <p:spPr>
          <a:xfrm>
            <a:off x="548640" y="3931920"/>
            <a:ext cx="384048" cy="384048"/>
          </a:xfrm>
          <a:prstGeom prst="ellipse">
            <a:avLst/>
          </a:prstGeom>
          <a:solidFill>
            <a:schemeClr val="accent1"/>
          </a:solidFill>
          <a:ln/>
        </p:spPr>
      </p:sp>
      <p:pic>
        <p:nvPicPr>
          <p:cNvPr id="22" name="Règle 2 (icône)" descr="Règle">    </p:cNvPr>
          <p:cNvPicPr>
            <a:picLocks noChangeAspect="1"/>
          </p:cNvPicPr>
          <p:nvPr/>
        </p:nvPicPr>
        <p:blipFill>
          <a:blip r:embed="rId2"/>
          <a:stretch>
            <a:fillRect/>
          </a:stretch>
        </p:blipFill>
        <p:spPr>
          <a:xfrm>
            <a:off x="625450" y="4008730"/>
            <a:ext cx="230429" cy="230429"/>
          </a:xfrm>
          <a:prstGeom prst="rect">
            <a:avLst/>
          </a:prstGeom>
        </p:spPr>
      </p:pic>
      <p:sp>
        <p:nvSpPr>
          <p:cNvPr id="23" name="Text 19"/>
          <p:cNvSpPr txBox="1"/>
          <p:nvPr/>
        </p:nvSpPr>
        <p:spPr>
          <a:xfrm>
            <a:off x="1097280" y="3895344"/>
            <a:ext cx="10515600" cy="457200"/>
          </a:xfrm>
          <a:prstGeom prst="rect">
            <a:avLst/>
          </a:prstGeom>
          <a:noFill/>
          <a:ln/>
        </p:spPr>
        <p:txBody>
          <a:bodyPr wrap="square" lIns="0" tIns="0" rIns="0" bIns="0" rtlCol="0" anchor="ctr"/>
          <a:lstStyle/>
          <a:p>
            <a:pPr indent="0" marL="0">
              <a:buNone/>
            </a:pPr>
            <a:r>
              <a:rPr lang="en-US" sz="1600" dirty="0">
                <a:solidFill>
                  <a:schemeClr val="tx1"/>
                </a:solidFill>
              </a:rPr>
              <a:t>L'IA ne pousse pas, ne fusionne pas et ne pose aucun tag.</a:t>
            </a:r>
            <a:endParaRPr lang="en-US" sz="1600" dirty="0"/>
          </a:p>
        </p:txBody>
      </p:sp>
      <p:sp>
        <p:nvSpPr>
          <p:cNvPr id="24" name="Règle 3 (pastille)"/>
          <p:cNvSpPr/>
          <p:nvPr/>
        </p:nvSpPr>
        <p:spPr>
          <a:xfrm>
            <a:off x="548640" y="4443984"/>
            <a:ext cx="384048" cy="384048"/>
          </a:xfrm>
          <a:prstGeom prst="ellipse">
            <a:avLst/>
          </a:prstGeom>
          <a:solidFill>
            <a:schemeClr val="accent1"/>
          </a:solidFill>
          <a:ln/>
        </p:spPr>
      </p:sp>
      <p:pic>
        <p:nvPicPr>
          <p:cNvPr id="25" name="Règle 3 (icône)" descr="Règle">    </p:cNvPr>
          <p:cNvPicPr>
            <a:picLocks noChangeAspect="1"/>
          </p:cNvPicPr>
          <p:nvPr/>
        </p:nvPicPr>
        <p:blipFill>
          <a:blip r:embed="rId3"/>
          <a:stretch>
            <a:fillRect/>
          </a:stretch>
        </p:blipFill>
        <p:spPr>
          <a:xfrm>
            <a:off x="625450" y="4520794"/>
            <a:ext cx="230429" cy="230429"/>
          </a:xfrm>
          <a:prstGeom prst="rect">
            <a:avLst/>
          </a:prstGeom>
        </p:spPr>
      </p:pic>
      <p:sp>
        <p:nvSpPr>
          <p:cNvPr id="26" name="Text 21"/>
          <p:cNvSpPr txBox="1"/>
          <p:nvPr/>
        </p:nvSpPr>
        <p:spPr>
          <a:xfrm>
            <a:off x="1097280" y="4407408"/>
            <a:ext cx="10515600" cy="457200"/>
          </a:xfrm>
          <a:prstGeom prst="rect">
            <a:avLst/>
          </a:prstGeom>
          <a:noFill/>
          <a:ln/>
        </p:spPr>
        <p:txBody>
          <a:bodyPr wrap="square" lIns="0" tIns="0" rIns="0" bIns="0" rtlCol="0" anchor="ctr"/>
          <a:lstStyle/>
          <a:p>
            <a:pPr indent="0" marL="0">
              <a:buNone/>
            </a:pPr>
            <a:r>
              <a:rPr lang="en-US" sz="1600" dirty="0">
                <a:solidFill>
                  <a:schemeClr val="tx1"/>
                </a:solidFill>
              </a:rPr>
              <a:t>Aucun test existant n'est supprimé ni affaibli sans l'accord du développeur.</a:t>
            </a:r>
            <a:endParaRPr lang="en-US" sz="1600" dirty="0"/>
          </a:p>
        </p:txBody>
      </p:sp>
      <p:sp>
        <p:nvSpPr>
          <p:cNvPr id="27" name="Règle 4 (pastille)"/>
          <p:cNvSpPr/>
          <p:nvPr/>
        </p:nvSpPr>
        <p:spPr>
          <a:xfrm>
            <a:off x="548640" y="4956048"/>
            <a:ext cx="384048" cy="384048"/>
          </a:xfrm>
          <a:prstGeom prst="ellipse">
            <a:avLst/>
          </a:prstGeom>
          <a:solidFill>
            <a:schemeClr val="accent1"/>
          </a:solidFill>
          <a:ln/>
        </p:spPr>
      </p:sp>
      <p:pic>
        <p:nvPicPr>
          <p:cNvPr id="28" name="Règle 4 (icône)" descr="Règle">    </p:cNvPr>
          <p:cNvPicPr>
            <a:picLocks noChangeAspect="1"/>
          </p:cNvPicPr>
          <p:nvPr/>
        </p:nvPicPr>
        <p:blipFill>
          <a:blip r:embed="rId4"/>
          <a:stretch>
            <a:fillRect/>
          </a:stretch>
        </p:blipFill>
        <p:spPr>
          <a:xfrm>
            <a:off x="625450" y="5032858"/>
            <a:ext cx="230429" cy="230429"/>
          </a:xfrm>
          <a:prstGeom prst="rect">
            <a:avLst/>
          </a:prstGeom>
        </p:spPr>
      </p:pic>
      <p:sp>
        <p:nvSpPr>
          <p:cNvPr id="29" name="Text 23"/>
          <p:cNvSpPr txBox="1"/>
          <p:nvPr/>
        </p:nvSpPr>
        <p:spPr>
          <a:xfrm>
            <a:off x="1097280" y="4919472"/>
            <a:ext cx="10515600" cy="457200"/>
          </a:xfrm>
          <a:prstGeom prst="rect">
            <a:avLst/>
          </a:prstGeom>
          <a:noFill/>
          <a:ln/>
        </p:spPr>
        <p:txBody>
          <a:bodyPr wrap="square" lIns="0" tIns="0" rIns="0" bIns="0" rtlCol="0" anchor="ctr"/>
          <a:lstStyle/>
          <a:p>
            <a:pPr indent="0" marL="0">
              <a:buNone/>
            </a:pPr>
            <a:r>
              <a:rPr lang="en-US" sz="1600" dirty="0">
                <a:solidFill>
                  <a:schemeClr val="tx1"/>
                </a:solidFill>
              </a:rPr>
              <a:t>L'IA ne modifie jamais les invariants du projet ; tout écart s'inscrit au registre.</a:t>
            </a:r>
            <a:endParaRPr lang="en-US" sz="1600" dirty="0"/>
          </a:p>
        </p:txBody>
      </p:sp>
      <p:sp>
        <p:nvSpPr>
          <p:cNvPr id="30" name="Règle 5 (pastille)"/>
          <p:cNvSpPr/>
          <p:nvPr/>
        </p:nvSpPr>
        <p:spPr>
          <a:xfrm>
            <a:off x="548640" y="5468112"/>
            <a:ext cx="384048" cy="384048"/>
          </a:xfrm>
          <a:prstGeom prst="ellipse">
            <a:avLst/>
          </a:prstGeom>
          <a:solidFill>
            <a:schemeClr val="accent1"/>
          </a:solidFill>
          <a:ln/>
        </p:spPr>
      </p:sp>
      <p:pic>
        <p:nvPicPr>
          <p:cNvPr id="31" name="Règle 5 (icône)" descr="Règle">    </p:cNvPr>
          <p:cNvPicPr>
            <a:picLocks noChangeAspect="1"/>
          </p:cNvPicPr>
          <p:nvPr/>
        </p:nvPicPr>
        <p:blipFill>
          <a:blip r:embed="rId5"/>
          <a:stretch>
            <a:fillRect/>
          </a:stretch>
        </p:blipFill>
        <p:spPr>
          <a:xfrm>
            <a:off x="625450" y="5544922"/>
            <a:ext cx="230429" cy="230429"/>
          </a:xfrm>
          <a:prstGeom prst="rect">
            <a:avLst/>
          </a:prstGeom>
        </p:spPr>
      </p:pic>
      <p:sp>
        <p:nvSpPr>
          <p:cNvPr id="32" name="Text 25"/>
          <p:cNvSpPr txBox="1"/>
          <p:nvPr/>
        </p:nvSpPr>
        <p:spPr>
          <a:xfrm>
            <a:off x="1097280" y="5431536"/>
            <a:ext cx="10515600" cy="457200"/>
          </a:xfrm>
          <a:prstGeom prst="rect">
            <a:avLst/>
          </a:prstGeom>
          <a:noFill/>
          <a:ln/>
        </p:spPr>
        <p:txBody>
          <a:bodyPr wrap="square" lIns="0" tIns="0" rIns="0" bIns="0" rtlCol="0" anchor="ctr"/>
          <a:lstStyle/>
          <a:p>
            <a:pPr indent="0" marL="0">
              <a:buNone/>
            </a:pPr>
            <a:r>
              <a:rPr lang="en-US" sz="1600" dirty="0">
                <a:solidFill>
                  <a:schemeClr val="tx1"/>
                </a:solidFill>
              </a:rPr>
              <a:t>Toute valeur annoncée reste une hypothèse tant qu'elle n'est pas mesurée.</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Le seuil de rentabilité</a:t>
            </a:r>
            <a:endParaRPr lang="en-US" sz="3600" dirty="0"/>
          </a:p>
        </p:txBody>
      </p:sp>
      <p:sp>
        <p:nvSpPr>
          <p:cNvPr id="3" name="Formule"/>
          <p:cNvSpPr/>
          <p:nvPr/>
        </p:nvSpPr>
        <p:spPr>
          <a:xfrm>
            <a:off x="548640" y="1371600"/>
            <a:ext cx="6492240" cy="914400"/>
          </a:xfrm>
          <a:prstGeom prst="roundRect">
            <a:avLst>
              <a:gd name="adj" fmla="val 12000"/>
            </a:avLst>
          </a:prstGeom>
          <a:solidFill>
            <a:schemeClr val="bg2"/>
          </a:solidFill>
          <a:ln/>
        </p:spPr>
      </p:sp>
      <p:sp>
        <p:nvSpPr>
          <p:cNvPr id="4" name="Text 2"/>
          <p:cNvSpPr txBox="1"/>
          <p:nvPr/>
        </p:nvSpPr>
        <p:spPr>
          <a:xfrm>
            <a:off x="777240" y="1417320"/>
            <a:ext cx="6035040" cy="822960"/>
          </a:xfrm>
          <a:prstGeom prst="rect">
            <a:avLst/>
          </a:prstGeom>
          <a:noFill/>
          <a:ln/>
        </p:spPr>
        <p:txBody>
          <a:bodyPr wrap="square" lIns="0" tIns="0" rIns="0" bIns="0" rtlCol="0" anchor="ctr"/>
          <a:lstStyle/>
          <a:p>
            <a:pPr indent="0" marL="0">
              <a:buNone/>
            </a:pPr>
            <a:r>
              <a:rPr lang="en-US" sz="1600" b="1" dirty="0">
                <a:solidFill>
                  <a:schemeClr val="tx2"/>
                </a:solidFill>
              </a:rPr>
              <a:t>Gain nécessaire</a:t>
            </a:r>
            <a:pPr indent="0" marL="0">
              <a:buNone/>
            </a:pPr>
            <a:r>
              <a:rPr lang="en-US" sz="1600" dirty="0">
                <a:solidFill>
                  <a:schemeClr val="tx1"/>
                </a:solidFill>
              </a:rPr>
              <a:t> = (licence + supervision × coût horaire + mise en place amortie) ÷ coût horaire</a:t>
            </a:r>
            <a:endParaRPr lang="en-US" sz="1600" dirty="0"/>
          </a:p>
        </p:txBody>
      </p:sp>
      <p:graphicFrame>
        <p:nvGraphicFramePr>
          <p:cNvPr id="11" name="Hypothèses"/>
          <p:cNvGraphicFramePr>
            <a:graphicFrameLocks noGrp="1"/>
          </p:cNvGraphicFramePr>
          <p:nvPr>
            <p:extLst>
              <p:ext uri="{D42A27DB-BD31-4B8C-83A1-F6EECF244321}">
                <p14:modId xmlns:p14="http://schemas.microsoft.com/office/powerpoint/2010/main" val="1579011935"/>
              </p:ext>
            </p:extLst>
          </p:nvPr>
        </p:nvGraphicFramePr>
        <p:xfrm>
          <a:off x="548640" y="2514600"/>
          <a:ext cx="6492240" cy="914400"/>
        </p:xfrm>
        <a:graphic>
          <a:graphicData uri="http://schemas.openxmlformats.org/drawingml/2006/table">
            <a:tbl>
              <a:tblPr/>
              <a:tblGrid>
                <a:gridCol w="2926080"/>
                <a:gridCol w="3566160"/>
              </a:tblGrid>
              <a:tr h="438912">
                <a:tc>
                  <a:txBody>
                    <a:bodyPr/>
                    <a:lstStyle/>
                    <a:p>
                      <a:pPr indent="0" marL="0">
                        <a:buNone/>
                      </a:pPr>
                      <a:r>
                        <a:rPr lang="en-US" sz="1400" b="1" dirty="0">
                          <a:solidFill>
                            <a:schemeClr val="bg1"/>
                          </a:solidFill>
                        </a:rPr>
                        <a:t>Hypothèse (exemple)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Valeur</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r>
              <a:tr h="438912">
                <a:tc>
                  <a:txBody>
                    <a:bodyPr/>
                    <a:lstStyle/>
                    <a:p>
                      <a:pPr indent="0" marL="0">
                        <a:buNone/>
                      </a:pPr>
                      <a:r>
                        <a:rPr lang="en-US" sz="1400" dirty="0">
                          <a:solidFill>
                            <a:schemeClr val="tx1"/>
                          </a:solidFill>
                        </a:rPr>
                        <a:t>Coût horaire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75 € (journée à 600 €, 8 h)</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Licence, offre entreprise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50 € par développeur et par mois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Supervision supplémentaire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 h par développeur et par mois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Mise en place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15 jours, amortis sur 12 mois et 5 personnes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1"/>
                          </a:solidFill>
                        </a:rPr>
                        <a:t>Coût mensuel par développeur</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50 + 150 + 150 = 350 €</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548640" y="5230368"/>
            <a:ext cx="6492240" cy="457200"/>
          </a:xfrm>
          <a:prstGeom prst="rect">
            <a:avLst/>
          </a:prstGeom>
          <a:noFill/>
          <a:ln/>
        </p:spPr>
        <p:txBody>
          <a:bodyPr wrap="square" lIns="0" tIns="0" rIns="0" bIns="0" rtlCol="0" anchor="t"/>
          <a:lstStyle/>
          <a:p>
            <a:pPr indent="0" marL="0">
              <a:buNone/>
            </a:pPr>
            <a:r>
              <a:rPr lang="en-US" sz="1100" dirty="0">
                <a:solidFill>
                  <a:schemeClr val="accent6"/>
                </a:solidFill>
              </a:rPr>
              <a:t>Hypothèses à remplacer par vos chiffres. Pour la licence, Gemini Code Assist Enterprise coûte 45 à 54 $ par développeur et par mois.</a:t>
            </a:r>
            <a:endParaRPr lang="en-US" sz="1100" dirty="0"/>
          </a:p>
        </p:txBody>
      </p:sp>
      <p:sp>
        <p:nvSpPr>
          <p:cNvPr id="7" name="Seuil"/>
          <p:cNvSpPr/>
          <p:nvPr/>
        </p:nvSpPr>
        <p:spPr>
          <a:xfrm>
            <a:off x="7406640" y="1371600"/>
            <a:ext cx="4206240" cy="4343400"/>
          </a:xfrm>
          <a:prstGeom prst="roundRect">
            <a:avLst>
              <a:gd name="adj" fmla="val 2609"/>
            </a:avLst>
          </a:prstGeom>
          <a:solidFill>
            <a:schemeClr val="bg2"/>
          </a:solidFill>
          <a:ln/>
        </p:spPr>
      </p:sp>
      <p:sp>
        <p:nvSpPr>
          <p:cNvPr id="8" name="Text 5"/>
          <p:cNvSpPr txBox="1"/>
          <p:nvPr/>
        </p:nvSpPr>
        <p:spPr>
          <a:xfrm>
            <a:off x="7726680" y="1645920"/>
            <a:ext cx="3566160" cy="365760"/>
          </a:xfrm>
          <a:prstGeom prst="rect">
            <a:avLst/>
          </a:prstGeom>
          <a:noFill/>
          <a:ln/>
        </p:spPr>
        <p:txBody>
          <a:bodyPr wrap="square" lIns="0" tIns="0" rIns="0" bIns="0" rtlCol="0" anchor="ctr"/>
          <a:lstStyle/>
          <a:p>
            <a:pPr indent="0" marL="0">
              <a:buNone/>
            </a:pPr>
            <a:r>
              <a:rPr lang="en-US" sz="1600" dirty="0">
                <a:solidFill>
                  <a:schemeClr val="accent6"/>
                </a:solidFill>
              </a:rPr>
              <a:t>Seuil de rentabilité</a:t>
            </a:r>
            <a:endParaRPr lang="en-US" sz="1600" dirty="0"/>
          </a:p>
        </p:txBody>
      </p:sp>
      <p:sp>
        <p:nvSpPr>
          <p:cNvPr id="9" name="Text 6"/>
          <p:cNvSpPr txBox="1"/>
          <p:nvPr/>
        </p:nvSpPr>
        <p:spPr>
          <a:xfrm>
            <a:off x="7726680" y="2057400"/>
            <a:ext cx="3566160" cy="109728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4 h 40</a:t>
            </a:r>
            <a:endParaRPr lang="en-US" sz="6600" dirty="0"/>
          </a:p>
        </p:txBody>
      </p:sp>
      <p:sp>
        <p:nvSpPr>
          <p:cNvPr id="10" name="Text 7"/>
          <p:cNvSpPr txBox="1"/>
          <p:nvPr/>
        </p:nvSpPr>
        <p:spPr>
          <a:xfrm>
            <a:off x="7726680" y="3154680"/>
            <a:ext cx="3566160" cy="365760"/>
          </a:xfrm>
          <a:prstGeom prst="rect">
            <a:avLst/>
          </a:prstGeom>
          <a:noFill/>
          <a:ln/>
        </p:spPr>
        <p:txBody>
          <a:bodyPr wrap="square" lIns="0" tIns="0" rIns="0" bIns="0" rtlCol="0" anchor="ctr"/>
          <a:lstStyle/>
          <a:p>
            <a:pPr indent="0" marL="0">
              <a:buNone/>
            </a:pPr>
            <a:r>
              <a:rPr lang="en-US" sz="1700" dirty="0">
                <a:solidFill>
                  <a:schemeClr val="tx1"/>
                </a:solidFill>
              </a:rPr>
              <a:t>par développeur et par mois</a:t>
            </a:r>
            <a:endParaRPr lang="en-US" sz="1700" dirty="0"/>
          </a:p>
        </p:txBody>
      </p:sp>
      <p:sp>
        <p:nvSpPr>
          <p:cNvPr id="11" name="Text 8"/>
          <p:cNvSpPr txBox="1"/>
          <p:nvPr/>
        </p:nvSpPr>
        <p:spPr>
          <a:xfrm>
            <a:off x="7726680" y="3657600"/>
            <a:ext cx="3566160" cy="457200"/>
          </a:xfrm>
          <a:prstGeom prst="rect">
            <a:avLst/>
          </a:prstGeom>
          <a:noFill/>
          <a:ln/>
        </p:spPr>
        <p:txBody>
          <a:bodyPr wrap="square" lIns="0" tIns="0" rIns="0" bIns="0" rtlCol="0" anchor="ctr"/>
          <a:lstStyle/>
          <a:p>
            <a:pPr indent="0" marL="0">
              <a:buNone/>
            </a:pPr>
            <a:r>
              <a:rPr lang="en-US" sz="2000" b="1" dirty="0">
                <a:solidFill>
                  <a:schemeClr val="tx2"/>
                </a:solidFill>
              </a:rPr>
              <a:t>soit 2,9 % du temps de travail</a:t>
            </a:r>
            <a:endParaRPr lang="en-US" sz="2000" dirty="0"/>
          </a:p>
        </p:txBody>
      </p:sp>
      <p:sp>
        <p:nvSpPr>
          <p:cNvPr id="12" name="Text 9"/>
          <p:cNvSpPr txBox="1"/>
          <p:nvPr/>
        </p:nvSpPr>
        <p:spPr>
          <a:xfrm>
            <a:off x="7726680" y="4343400"/>
            <a:ext cx="3566160" cy="731520"/>
          </a:xfrm>
          <a:prstGeom prst="rect">
            <a:avLst/>
          </a:prstGeom>
          <a:noFill/>
          <a:ln/>
        </p:spPr>
        <p:txBody>
          <a:bodyPr wrap="square" lIns="0" tIns="0" rIns="0" bIns="0" rtlCol="0" anchor="t"/>
          <a:lstStyle/>
          <a:p>
            <a:pPr indent="0" marL="0">
              <a:buNone/>
            </a:pPr>
            <a:r>
              <a:rPr lang="en-US" sz="1500" dirty="0">
                <a:solidFill>
                  <a:schemeClr val="accent6"/>
                </a:solidFill>
              </a:rPr>
              <a:t>Pour une équipe de cinq :</a:t>
            </a:r>
            <a:endParaRPr lang="en-US" sz="1500" dirty="0"/>
          </a:p>
          <a:p>
            <a:pPr indent="0" marL="0">
              <a:buNone/>
            </a:pPr>
            <a:r>
              <a:rPr lang="en-US" sz="1500" dirty="0">
                <a:solidFill>
                  <a:schemeClr val="accent6"/>
                </a:solidFill>
              </a:rPr>
              <a:t>1 750 € par mois, 21 000 € par an</a:t>
            </a:r>
            <a:endParaRPr lang="en-US" sz="1500" dirty="0"/>
          </a:p>
        </p:txBody>
      </p:sp>
      <p:sp>
        <p:nvSpPr>
          <p:cNvPr id="13" name="Text 10"/>
          <p:cNvSpPr txBox="1"/>
          <p:nvPr/>
        </p:nvSpPr>
        <p:spPr>
          <a:xfrm>
            <a:off x="548640" y="5779008"/>
            <a:ext cx="11064240" cy="411480"/>
          </a:xfrm>
          <a:prstGeom prst="rect">
            <a:avLst/>
          </a:prstGeom>
          <a:noFill/>
          <a:ln/>
        </p:spPr>
        <p:txBody>
          <a:bodyPr wrap="square" lIns="0" tIns="0" rIns="0" bIns="0" rtlCol="0" anchor="ctr"/>
          <a:lstStyle/>
          <a:p>
            <a:pPr indent="0" marL="0">
              <a:buNone/>
            </a:pPr>
            <a:r>
              <a:rPr lang="en-US" sz="1500" i="1" dirty="0">
                <a:solidFill>
                  <a:schemeClr val="tx2"/>
                </a:solidFill>
              </a:rPr>
              <a:t>Ce seuil ne compte que le temps : qualité, traçabilité et capitalisation viennent en plus.</a:t>
            </a:r>
            <a:endParaRPr lang="en-US" sz="15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La valeur nette selon le gain mesuré</a:t>
            </a:r>
            <a:endParaRPr lang="en-US" sz="3600" dirty="0"/>
          </a:p>
        </p:txBody>
      </p:sp>
      <p:graphicFrame>
        <p:nvGraphicFramePr>
          <p:cNvPr id="3" name="Graphique de la valeur nette" descr=""/>
          <p:cNvGraphicFramePr/>
          <p:nvPr/>
        </p:nvGraphicFramePr>
        <p:xfrm>
          <a:off x="548640" y="132588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4" name="Lecture 1"/>
          <p:cNvSpPr/>
          <p:nvPr/>
        </p:nvSpPr>
        <p:spPr>
          <a:xfrm>
            <a:off x="8138160" y="1371600"/>
            <a:ext cx="3474720" cy="1371600"/>
          </a:xfrm>
          <a:prstGeom prst="roundRect">
            <a:avLst>
              <a:gd name="adj" fmla="val 8000"/>
            </a:avLst>
          </a:prstGeom>
          <a:solidFill>
            <a:schemeClr val="bg2"/>
          </a:solidFill>
          <a:ln/>
        </p:spPr>
      </p:sp>
      <p:sp>
        <p:nvSpPr>
          <p:cNvPr id="5" name="Lecture 1 (pastille)"/>
          <p:cNvSpPr/>
          <p:nvPr/>
        </p:nvSpPr>
        <p:spPr>
          <a:xfrm>
            <a:off x="8366760" y="1600200"/>
            <a:ext cx="548640" cy="548640"/>
          </a:xfrm>
          <a:prstGeom prst="ellipse">
            <a:avLst/>
          </a:prstGeom>
          <a:solidFill>
            <a:schemeClr val="accent5"/>
          </a:solidFill>
          <a:ln/>
        </p:spPr>
      </p:sp>
      <p:pic>
        <p:nvPicPr>
          <p:cNvPr id="6" name="Lecture 1 (icône)" descr="Sous le seuil, on perd">    </p:cNvPr>
          <p:cNvPicPr>
            <a:picLocks noChangeAspect="1"/>
          </p:cNvPicPr>
          <p:nvPr/>
        </p:nvPicPr>
        <p:blipFill>
          <a:blip r:embed="rId2"/>
          <a:stretch>
            <a:fillRect/>
          </a:stretch>
        </p:blipFill>
        <p:spPr>
          <a:xfrm>
            <a:off x="8476488" y="1709928"/>
            <a:ext cx="329184" cy="329184"/>
          </a:xfrm>
          <a:prstGeom prst="rect">
            <a:avLst/>
          </a:prstGeom>
        </p:spPr>
      </p:pic>
      <p:sp>
        <p:nvSpPr>
          <p:cNvPr id="7" name="Text 3"/>
          <p:cNvSpPr txBox="1"/>
          <p:nvPr/>
        </p:nvSpPr>
        <p:spPr>
          <a:xfrm>
            <a:off x="9098280" y="1600200"/>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Sous le seuil, on perd</a:t>
            </a:r>
            <a:endParaRPr lang="en-US" sz="1700" dirty="0"/>
          </a:p>
        </p:txBody>
      </p:sp>
      <p:sp>
        <p:nvSpPr>
          <p:cNvPr id="8" name="Text 4"/>
          <p:cNvSpPr txBox="1"/>
          <p:nvPr/>
        </p:nvSpPr>
        <p:spPr>
          <a:xfrm>
            <a:off x="8366760" y="2194560"/>
            <a:ext cx="3063240" cy="502920"/>
          </a:xfrm>
          <a:prstGeom prst="rect">
            <a:avLst/>
          </a:prstGeom>
          <a:noFill/>
          <a:ln/>
        </p:spPr>
        <p:txBody>
          <a:bodyPr wrap="square" lIns="0" tIns="0" rIns="0" bIns="0" rtlCol="0" anchor="t"/>
          <a:lstStyle/>
          <a:p>
            <a:pPr indent="0" marL="0">
              <a:buNone/>
            </a:pPr>
            <a:r>
              <a:rPr lang="en-US" sz="1400" dirty="0">
                <a:solidFill>
                  <a:schemeClr val="tx1"/>
                </a:solidFill>
              </a:rPr>
              <a:t>Un ralentissement de 10 % coûte 1 550 € par développeur et par mois.</a:t>
            </a:r>
            <a:endParaRPr lang="en-US" sz="1400" dirty="0"/>
          </a:p>
        </p:txBody>
      </p:sp>
      <p:sp>
        <p:nvSpPr>
          <p:cNvPr id="9" name="Lecture 2"/>
          <p:cNvSpPr/>
          <p:nvPr/>
        </p:nvSpPr>
        <p:spPr>
          <a:xfrm>
            <a:off x="8138160" y="2926080"/>
            <a:ext cx="3474720" cy="1371600"/>
          </a:xfrm>
          <a:prstGeom prst="roundRect">
            <a:avLst>
              <a:gd name="adj" fmla="val 8000"/>
            </a:avLst>
          </a:prstGeom>
          <a:solidFill>
            <a:schemeClr val="bg2"/>
          </a:solidFill>
          <a:ln/>
        </p:spPr>
      </p:sp>
      <p:sp>
        <p:nvSpPr>
          <p:cNvPr id="10" name="Lecture 2 (pastille)"/>
          <p:cNvSpPr/>
          <p:nvPr/>
        </p:nvSpPr>
        <p:spPr>
          <a:xfrm>
            <a:off x="8366760" y="3154680"/>
            <a:ext cx="548640" cy="548640"/>
          </a:xfrm>
          <a:prstGeom prst="ellipse">
            <a:avLst/>
          </a:prstGeom>
          <a:solidFill>
            <a:schemeClr val="accent1"/>
          </a:solidFill>
          <a:ln/>
        </p:spPr>
      </p:sp>
      <p:pic>
        <p:nvPicPr>
          <p:cNvPr id="11" name="Lecture 2 (icône)" descr="Au-dessus, on gagne">    </p:cNvPr>
          <p:cNvPicPr>
            <a:picLocks noChangeAspect="1"/>
          </p:cNvPicPr>
          <p:nvPr/>
        </p:nvPicPr>
        <p:blipFill>
          <a:blip r:embed="rId3"/>
          <a:stretch>
            <a:fillRect/>
          </a:stretch>
        </p:blipFill>
        <p:spPr>
          <a:xfrm>
            <a:off x="8476488" y="3264408"/>
            <a:ext cx="329184" cy="329184"/>
          </a:xfrm>
          <a:prstGeom prst="rect">
            <a:avLst/>
          </a:prstGeom>
        </p:spPr>
      </p:pic>
      <p:sp>
        <p:nvSpPr>
          <p:cNvPr id="12" name="Text 7"/>
          <p:cNvSpPr txBox="1"/>
          <p:nvPr/>
        </p:nvSpPr>
        <p:spPr>
          <a:xfrm>
            <a:off x="9098280" y="3154680"/>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Au-dessus, on gagne</a:t>
            </a:r>
            <a:endParaRPr lang="en-US" sz="1700" dirty="0"/>
          </a:p>
        </p:txBody>
      </p:sp>
      <p:sp>
        <p:nvSpPr>
          <p:cNvPr id="13" name="Text 8"/>
          <p:cNvSpPr txBox="1"/>
          <p:nvPr/>
        </p:nvSpPr>
        <p:spPr>
          <a:xfrm>
            <a:off x="8366760" y="3749040"/>
            <a:ext cx="3063240" cy="502920"/>
          </a:xfrm>
          <a:prstGeom prst="rect">
            <a:avLst/>
          </a:prstGeom>
          <a:noFill/>
          <a:ln/>
        </p:spPr>
        <p:txBody>
          <a:bodyPr wrap="square" lIns="0" tIns="0" rIns="0" bIns="0" rtlCol="0" anchor="t"/>
          <a:lstStyle/>
          <a:p>
            <a:pPr indent="0" marL="0">
              <a:buNone/>
            </a:pPr>
            <a:r>
              <a:rPr lang="en-US" sz="1400" dirty="0">
                <a:solidFill>
                  <a:schemeClr val="tx1"/>
                </a:solidFill>
              </a:rPr>
              <a:t>À 10 % de gain, la valeur nette atteint 850 € par développeur et par mois.</a:t>
            </a:r>
            <a:endParaRPr lang="en-US" sz="1400" dirty="0"/>
          </a:p>
        </p:txBody>
      </p:sp>
      <p:sp>
        <p:nvSpPr>
          <p:cNvPr id="14" name="Lecture 3"/>
          <p:cNvSpPr/>
          <p:nvPr/>
        </p:nvSpPr>
        <p:spPr>
          <a:xfrm>
            <a:off x="8138160" y="4480560"/>
            <a:ext cx="3474720" cy="1371600"/>
          </a:xfrm>
          <a:prstGeom prst="roundRect">
            <a:avLst>
              <a:gd name="adj" fmla="val 8000"/>
            </a:avLst>
          </a:prstGeom>
          <a:solidFill>
            <a:schemeClr val="bg2"/>
          </a:solidFill>
          <a:ln/>
        </p:spPr>
      </p:sp>
      <p:sp>
        <p:nvSpPr>
          <p:cNvPr id="15" name="Lecture 3 (pastille)"/>
          <p:cNvSpPr/>
          <p:nvPr/>
        </p:nvSpPr>
        <p:spPr>
          <a:xfrm>
            <a:off x="8366760" y="4709160"/>
            <a:ext cx="548640" cy="548640"/>
          </a:xfrm>
          <a:prstGeom prst="ellipse">
            <a:avLst/>
          </a:prstGeom>
          <a:solidFill>
            <a:schemeClr val="accent2"/>
          </a:solidFill>
          <a:ln/>
        </p:spPr>
      </p:sp>
      <p:pic>
        <p:nvPicPr>
          <p:cNvPr id="16" name="Lecture 3 (icône)" descr="D'où la mesure">    </p:cNvPr>
          <p:cNvPicPr>
            <a:picLocks noChangeAspect="1"/>
          </p:cNvPicPr>
          <p:nvPr/>
        </p:nvPicPr>
        <p:blipFill>
          <a:blip r:embed="rId4"/>
          <a:stretch>
            <a:fillRect/>
          </a:stretch>
        </p:blipFill>
        <p:spPr>
          <a:xfrm>
            <a:off x="8476488" y="4818888"/>
            <a:ext cx="329184" cy="329184"/>
          </a:xfrm>
          <a:prstGeom prst="rect">
            <a:avLst/>
          </a:prstGeom>
        </p:spPr>
      </p:pic>
      <p:sp>
        <p:nvSpPr>
          <p:cNvPr id="17" name="Text 11"/>
          <p:cNvSpPr txBox="1"/>
          <p:nvPr/>
        </p:nvSpPr>
        <p:spPr>
          <a:xfrm>
            <a:off x="9098280" y="4709160"/>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D'où la mesure</a:t>
            </a:r>
            <a:endParaRPr lang="en-US" sz="1700" dirty="0"/>
          </a:p>
        </p:txBody>
      </p:sp>
      <p:sp>
        <p:nvSpPr>
          <p:cNvPr id="18" name="Text 12"/>
          <p:cNvSpPr txBox="1"/>
          <p:nvPr/>
        </p:nvSpPr>
        <p:spPr>
          <a:xfrm>
            <a:off x="8366760" y="5303520"/>
            <a:ext cx="3063240" cy="502920"/>
          </a:xfrm>
          <a:prstGeom prst="rect">
            <a:avLst/>
          </a:prstGeom>
          <a:noFill/>
          <a:ln/>
        </p:spPr>
        <p:txBody>
          <a:bodyPr wrap="square" lIns="0" tIns="0" rIns="0" bIns="0" rtlCol="0" anchor="t"/>
          <a:lstStyle/>
          <a:p>
            <a:pPr indent="0" marL="0">
              <a:buNone/>
            </a:pPr>
            <a:r>
              <a:rPr lang="en-US" sz="1400" dirty="0">
                <a:solidFill>
                  <a:schemeClr val="tx1"/>
                </a:solidFill>
              </a:rPr>
              <a:t>Le seuil est bas, mais le résultat n'est pas acquis.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Comment nous le mesurons</a:t>
            </a:r>
            <a:endParaRPr lang="en-US" sz="3600" dirty="0"/>
          </a:p>
        </p:txBody>
      </p:sp>
      <p:sp>
        <p:nvSpPr>
          <p:cNvPr id="3" name="Protocole 1 (pastille)"/>
          <p:cNvSpPr/>
          <p:nvPr/>
        </p:nvSpPr>
        <p:spPr>
          <a:xfrm>
            <a:off x="548640" y="1417320"/>
            <a:ext cx="566928" cy="566928"/>
          </a:xfrm>
          <a:prstGeom prst="ellipse">
            <a:avLst/>
          </a:prstGeom>
          <a:solidFill>
            <a:schemeClr val="accent1"/>
          </a:solidFill>
          <a:ln/>
        </p:spPr>
      </p:sp>
      <p:pic>
        <p:nvPicPr>
          <p:cNvPr id="4" name="Protocole 1 (icône)" descr="Tirage au sort">    </p:cNvPr>
          <p:cNvPicPr>
            <a:picLocks noChangeAspect="1"/>
          </p:cNvPicPr>
          <p:nvPr/>
        </p:nvPicPr>
        <p:blipFill>
          <a:blip r:embed="rId1"/>
          <a:stretch>
            <a:fillRect/>
          </a:stretch>
        </p:blipFill>
        <p:spPr>
          <a:xfrm>
            <a:off x="662026" y="1530706"/>
            <a:ext cx="340157" cy="340157"/>
          </a:xfrm>
          <a:prstGeom prst="rect">
            <a:avLst/>
          </a:prstGeom>
        </p:spPr>
      </p:pic>
      <p:sp>
        <p:nvSpPr>
          <p:cNvPr id="5" name="Text 2"/>
          <p:cNvSpPr txBox="1"/>
          <p:nvPr/>
        </p:nvSpPr>
        <p:spPr>
          <a:xfrm>
            <a:off x="1280160" y="1371600"/>
            <a:ext cx="4114800" cy="365760"/>
          </a:xfrm>
          <a:prstGeom prst="rect">
            <a:avLst/>
          </a:prstGeom>
          <a:noFill/>
          <a:ln/>
        </p:spPr>
        <p:txBody>
          <a:bodyPr wrap="square" lIns="0" tIns="0" rIns="0" bIns="0" rtlCol="0" anchor="ctr"/>
          <a:lstStyle/>
          <a:p>
            <a:pPr indent="0" marL="0">
              <a:buNone/>
            </a:pPr>
            <a:r>
              <a:rPr lang="en-US" sz="1700" b="1" dirty="0">
                <a:solidFill>
                  <a:schemeClr val="tx2"/>
                </a:solidFill>
              </a:rPr>
              <a:t>Tirage au sort</a:t>
            </a:r>
            <a:endParaRPr lang="en-US" sz="1700" dirty="0"/>
          </a:p>
        </p:txBody>
      </p:sp>
      <p:sp>
        <p:nvSpPr>
          <p:cNvPr id="6" name="Text 3"/>
          <p:cNvSpPr txBox="1"/>
          <p:nvPr/>
        </p:nvSpPr>
        <p:spPr>
          <a:xfrm>
            <a:off x="1280160" y="1755648"/>
            <a:ext cx="4114800" cy="621792"/>
          </a:xfrm>
          <a:prstGeom prst="rect">
            <a:avLst/>
          </a:prstGeom>
          <a:noFill/>
          <a:ln/>
        </p:spPr>
        <p:txBody>
          <a:bodyPr wrap="square" lIns="0" tIns="0" rIns="0" bIns="0" rtlCol="0" anchor="t"/>
          <a:lstStyle/>
          <a:p>
            <a:pPr indent="0" marL="0">
              <a:buNone/>
            </a:pPr>
            <a:r>
              <a:rPr lang="en-US" sz="1400" dirty="0">
                <a:solidFill>
                  <a:schemeClr val="tx1"/>
                </a:solidFill>
              </a:rPr>
              <a:t>Des tickets comparables, répartis au hasard entre la méthode et un groupe témoin.</a:t>
            </a:r>
            <a:endParaRPr lang="en-US" sz="1400" dirty="0"/>
          </a:p>
        </p:txBody>
      </p:sp>
      <p:sp>
        <p:nvSpPr>
          <p:cNvPr id="7" name="Protocole 2 (pastille)"/>
          <p:cNvSpPr/>
          <p:nvPr/>
        </p:nvSpPr>
        <p:spPr>
          <a:xfrm>
            <a:off x="548640" y="2514600"/>
            <a:ext cx="566928" cy="566928"/>
          </a:xfrm>
          <a:prstGeom prst="ellipse">
            <a:avLst/>
          </a:prstGeom>
          <a:solidFill>
            <a:schemeClr val="accent1"/>
          </a:solidFill>
          <a:ln/>
        </p:spPr>
      </p:sp>
      <p:pic>
        <p:nvPicPr>
          <p:cNvPr id="8" name="Protocole 2 (icône)" descr="Dix tickets ou plus par groupe">    </p:cNvPr>
          <p:cNvPicPr>
            <a:picLocks noChangeAspect="1"/>
          </p:cNvPicPr>
          <p:nvPr/>
        </p:nvPicPr>
        <p:blipFill>
          <a:blip r:embed="rId2"/>
          <a:stretch>
            <a:fillRect/>
          </a:stretch>
        </p:blipFill>
        <p:spPr>
          <a:xfrm>
            <a:off x="662026" y="2627986"/>
            <a:ext cx="340157" cy="340157"/>
          </a:xfrm>
          <a:prstGeom prst="rect">
            <a:avLst/>
          </a:prstGeom>
        </p:spPr>
      </p:pic>
      <p:sp>
        <p:nvSpPr>
          <p:cNvPr id="9" name="Text 5"/>
          <p:cNvSpPr txBox="1"/>
          <p:nvPr/>
        </p:nvSpPr>
        <p:spPr>
          <a:xfrm>
            <a:off x="1280160" y="2468880"/>
            <a:ext cx="4114800" cy="365760"/>
          </a:xfrm>
          <a:prstGeom prst="rect">
            <a:avLst/>
          </a:prstGeom>
          <a:noFill/>
          <a:ln/>
        </p:spPr>
        <p:txBody>
          <a:bodyPr wrap="square" lIns="0" tIns="0" rIns="0" bIns="0" rtlCol="0" anchor="ctr"/>
          <a:lstStyle/>
          <a:p>
            <a:pPr indent="0" marL="0">
              <a:buNone/>
            </a:pPr>
            <a:r>
              <a:rPr lang="en-US" sz="1700" b="1" dirty="0">
                <a:solidFill>
                  <a:schemeClr val="tx2"/>
                </a:solidFill>
              </a:rPr>
              <a:t>Dix tickets ou plus par groupe</a:t>
            </a:r>
            <a:endParaRPr lang="en-US" sz="1700" dirty="0"/>
          </a:p>
        </p:txBody>
      </p:sp>
      <p:sp>
        <p:nvSpPr>
          <p:cNvPr id="10" name="Text 6"/>
          <p:cNvSpPr txBox="1"/>
          <p:nvPr/>
        </p:nvSpPr>
        <p:spPr>
          <a:xfrm>
            <a:off x="1280160" y="2852928"/>
            <a:ext cx="4114800" cy="621792"/>
          </a:xfrm>
          <a:prstGeom prst="rect">
            <a:avLst/>
          </a:prstGeom>
          <a:noFill/>
          <a:ln/>
        </p:spPr>
        <p:txBody>
          <a:bodyPr wrap="square" lIns="0" tIns="0" rIns="0" bIns="0" rtlCol="0" anchor="t"/>
          <a:lstStyle/>
          <a:p>
            <a:pPr indent="0" marL="0">
              <a:buNone/>
            </a:pPr>
            <a:r>
              <a:rPr lang="en-US" sz="1400" dirty="0">
                <a:solidFill>
                  <a:schemeClr val="tx1"/>
                </a:solidFill>
              </a:rPr>
              <a:t>Votre sprint distingue déjà des tickets « IA » et « DEV ».</a:t>
            </a:r>
            <a:endParaRPr lang="en-US" sz="1400" dirty="0"/>
          </a:p>
        </p:txBody>
      </p:sp>
      <p:sp>
        <p:nvSpPr>
          <p:cNvPr id="11" name="Protocole 3 (pastille)"/>
          <p:cNvSpPr/>
          <p:nvPr/>
        </p:nvSpPr>
        <p:spPr>
          <a:xfrm>
            <a:off x="548640" y="3611880"/>
            <a:ext cx="566928" cy="566928"/>
          </a:xfrm>
          <a:prstGeom prst="ellipse">
            <a:avLst/>
          </a:prstGeom>
          <a:solidFill>
            <a:schemeClr val="accent1"/>
          </a:solidFill>
          <a:ln/>
        </p:spPr>
      </p:sp>
      <p:pic>
        <p:nvPicPr>
          <p:cNvPr id="12" name="Protocole 3 (icône)" descr="Un évaluateur indépendant">    </p:cNvPr>
          <p:cNvPicPr>
            <a:picLocks noChangeAspect="1"/>
          </p:cNvPicPr>
          <p:nvPr/>
        </p:nvPicPr>
        <p:blipFill>
          <a:blip r:embed="rId3"/>
          <a:stretch>
            <a:fillRect/>
          </a:stretch>
        </p:blipFill>
        <p:spPr>
          <a:xfrm>
            <a:off x="662026" y="3725266"/>
            <a:ext cx="340157" cy="340157"/>
          </a:xfrm>
          <a:prstGeom prst="rect">
            <a:avLst/>
          </a:prstGeom>
        </p:spPr>
      </p:pic>
      <p:sp>
        <p:nvSpPr>
          <p:cNvPr id="13" name="Text 8"/>
          <p:cNvSpPr txBox="1"/>
          <p:nvPr/>
        </p:nvSpPr>
        <p:spPr>
          <a:xfrm>
            <a:off x="1280160" y="3566160"/>
            <a:ext cx="4114800" cy="365760"/>
          </a:xfrm>
          <a:prstGeom prst="rect">
            <a:avLst/>
          </a:prstGeom>
          <a:noFill/>
          <a:ln/>
        </p:spPr>
        <p:txBody>
          <a:bodyPr wrap="square" lIns="0" tIns="0" rIns="0" bIns="0" rtlCol="0" anchor="ctr"/>
          <a:lstStyle/>
          <a:p>
            <a:pPr indent="0" marL="0">
              <a:buNone/>
            </a:pPr>
            <a:r>
              <a:rPr lang="en-US" sz="1700" b="1" dirty="0">
                <a:solidFill>
                  <a:schemeClr val="tx2"/>
                </a:solidFill>
              </a:rPr>
              <a:t>Un évaluateur indépendant</a:t>
            </a:r>
            <a:endParaRPr lang="en-US" sz="1700" dirty="0"/>
          </a:p>
        </p:txBody>
      </p:sp>
      <p:sp>
        <p:nvSpPr>
          <p:cNvPr id="14" name="Text 9"/>
          <p:cNvSpPr txBox="1"/>
          <p:nvPr/>
        </p:nvSpPr>
        <p:spPr>
          <a:xfrm>
            <a:off x="1280160" y="3950208"/>
            <a:ext cx="4114800" cy="621792"/>
          </a:xfrm>
          <a:prstGeom prst="rect">
            <a:avLst/>
          </a:prstGeom>
          <a:noFill/>
          <a:ln/>
        </p:spPr>
        <p:txBody>
          <a:bodyPr wrap="square" lIns="0" tIns="0" rIns="0" bIns="0" rtlCol="0" anchor="t"/>
          <a:lstStyle/>
          <a:p>
            <a:pPr indent="0" marL="0">
              <a:buNone/>
            </a:pPr>
            <a:r>
              <a:rPr lang="en-US" sz="1400" dirty="0">
                <a:solidFill>
                  <a:schemeClr val="tx1"/>
                </a:solidFill>
              </a:rPr>
              <a:t>Par exemple le PO, qui valide les mesures, sans double comptage.</a:t>
            </a:r>
            <a:endParaRPr lang="en-US" sz="1400" dirty="0"/>
          </a:p>
        </p:txBody>
      </p:sp>
      <p:sp>
        <p:nvSpPr>
          <p:cNvPr id="15" name="Protocole 4 (pastille)"/>
          <p:cNvSpPr/>
          <p:nvPr/>
        </p:nvSpPr>
        <p:spPr>
          <a:xfrm>
            <a:off x="548640" y="4709160"/>
            <a:ext cx="566928" cy="566928"/>
          </a:xfrm>
          <a:prstGeom prst="ellipse">
            <a:avLst/>
          </a:prstGeom>
          <a:solidFill>
            <a:schemeClr val="accent1"/>
          </a:solidFill>
          <a:ln/>
        </p:spPr>
      </p:sp>
      <p:pic>
        <p:nvPicPr>
          <p:cNvPr id="16" name="Protocole 4 (icône)" descr="Le ressenti ne compte pas">    </p:cNvPr>
          <p:cNvPicPr>
            <a:picLocks noChangeAspect="1"/>
          </p:cNvPicPr>
          <p:nvPr/>
        </p:nvPicPr>
        <p:blipFill>
          <a:blip r:embed="rId4"/>
          <a:stretch>
            <a:fillRect/>
          </a:stretch>
        </p:blipFill>
        <p:spPr>
          <a:xfrm>
            <a:off x="662026" y="4822546"/>
            <a:ext cx="340157" cy="340157"/>
          </a:xfrm>
          <a:prstGeom prst="rect">
            <a:avLst/>
          </a:prstGeom>
        </p:spPr>
      </p:pic>
      <p:sp>
        <p:nvSpPr>
          <p:cNvPr id="17" name="Text 11"/>
          <p:cNvSpPr txBox="1"/>
          <p:nvPr/>
        </p:nvSpPr>
        <p:spPr>
          <a:xfrm>
            <a:off x="1280160" y="4663440"/>
            <a:ext cx="4114800" cy="365760"/>
          </a:xfrm>
          <a:prstGeom prst="rect">
            <a:avLst/>
          </a:prstGeom>
          <a:noFill/>
          <a:ln/>
        </p:spPr>
        <p:txBody>
          <a:bodyPr wrap="square" lIns="0" tIns="0" rIns="0" bIns="0" rtlCol="0" anchor="ctr"/>
          <a:lstStyle/>
          <a:p>
            <a:pPr indent="0" marL="0">
              <a:buNone/>
            </a:pPr>
            <a:r>
              <a:rPr lang="en-US" sz="1700" b="1" dirty="0">
                <a:solidFill>
                  <a:schemeClr val="tx2"/>
                </a:solidFill>
              </a:rPr>
              <a:t>Le ressenti ne compte pas</a:t>
            </a:r>
            <a:endParaRPr lang="en-US" sz="1700" dirty="0"/>
          </a:p>
        </p:txBody>
      </p:sp>
      <p:sp>
        <p:nvSpPr>
          <p:cNvPr id="18" name="Text 12"/>
          <p:cNvSpPr txBox="1"/>
          <p:nvPr/>
        </p:nvSpPr>
        <p:spPr>
          <a:xfrm>
            <a:off x="1280160" y="5047488"/>
            <a:ext cx="4114800" cy="621792"/>
          </a:xfrm>
          <a:prstGeom prst="rect">
            <a:avLst/>
          </a:prstGeom>
          <a:noFill/>
          <a:ln/>
        </p:spPr>
        <p:txBody>
          <a:bodyPr wrap="square" lIns="0" tIns="0" rIns="0" bIns="0" rtlCol="0" anchor="t"/>
          <a:lstStyle/>
          <a:p>
            <a:pPr indent="0" marL="0">
              <a:buNone/>
            </a:pPr>
            <a:r>
              <a:rPr lang="en-US" sz="1400" dirty="0">
                <a:solidFill>
                  <a:schemeClr val="tx1"/>
                </a:solidFill>
              </a:rPr>
              <a:t>Seules les mesures comptent : médianes par groupe, données brutes jointes.</a:t>
            </a:r>
            <a:endParaRPr lang="en-US" sz="1400" dirty="0"/>
          </a:p>
        </p:txBody>
      </p:sp>
      <p:graphicFrame>
        <p:nvGraphicFramePr>
          <p:cNvPr id="13" name="Indicateurs"/>
          <p:cNvGraphicFramePr>
            <a:graphicFrameLocks noGrp="1"/>
          </p:cNvGraphicFramePr>
          <p:nvPr>
            <p:extLst>
              <p:ext uri="{D42A27DB-BD31-4B8C-83A1-F6EECF244321}">
                <p14:modId xmlns:p14="http://schemas.microsoft.com/office/powerpoint/2010/main" val="1579011935"/>
              </p:ext>
            </p:extLst>
          </p:nvPr>
        </p:nvGraphicFramePr>
        <p:xfrm>
          <a:off x="5760720" y="1371600"/>
          <a:ext cx="5852160" cy="914400"/>
        </p:xfrm>
        <a:graphic>
          <a:graphicData uri="http://schemas.openxmlformats.org/drawingml/2006/table">
            <a:tbl>
              <a:tblPr/>
              <a:tblGrid>
                <a:gridCol w="1874520"/>
                <a:gridCol w="868680"/>
                <a:gridCol w="3108960"/>
              </a:tblGrid>
              <a:tr h="566928">
                <a:tc>
                  <a:txBody>
                    <a:bodyPr/>
                    <a:lstStyle/>
                    <a:p>
                      <a:pPr indent="0" marL="0">
                        <a:buNone/>
                      </a:pPr>
                      <a:r>
                        <a:rPr lang="en-US" sz="1400" b="1" dirty="0">
                          <a:solidFill>
                            <a:schemeClr val="bg1"/>
                          </a:solidFill>
                        </a:rPr>
                        <a:t>Indicateur</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Source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Calcul</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tx1"/>
                          </a:solidFill>
                        </a:rPr>
                        <a:t>Délai de traitement</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Jira</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jours de la prise en charge à la livraison</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Effort</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Jira</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heures passées par ticket</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Taux de reprise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Jira</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tickets rouverts ou renvoyés ÷ tickets livrés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Anomalies après livraison</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Jira</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rattachées au ticket, sur quatre semaines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Critères prouvés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tests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critères couverts par un test qui passe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Indice de valeur</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fiche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indices Q, R, T, C et A de chaque fiche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bl>
          </a:graphicData>
        </a:graphic>
      </p:graphicFrame>
      <p:sp>
        <p:nvSpPr>
          <p:cNvPr id="20" name="Text 13"/>
          <p:cNvSpPr txBox="1"/>
          <p:nvPr/>
        </p:nvSpPr>
        <p:spPr>
          <a:xfrm>
            <a:off x="5760720" y="5440680"/>
            <a:ext cx="5852160" cy="320040"/>
          </a:xfrm>
          <a:prstGeom prst="rect">
            <a:avLst/>
          </a:prstGeom>
          <a:noFill/>
          <a:ln/>
        </p:spPr>
        <p:txBody>
          <a:bodyPr wrap="square" lIns="0" tIns="0" rIns="0" bIns="0" rtlCol="0" anchor="ctr"/>
          <a:lstStyle/>
          <a:p>
            <a:pPr indent="0" marL="0">
              <a:buNone/>
            </a:pPr>
            <a:r>
              <a:rPr lang="en-US" sz="1200" dirty="0">
                <a:solidFill>
                  <a:schemeClr val="accent6"/>
                </a:solidFill>
              </a:rPr>
              <a:t>Tout se lit dans Jira, GitLab et les fiches, sans outil supplémentaire.</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Un pilote, avec une règle d'arrêt</a:t>
            </a:r>
            <a:endParaRPr lang="en-US" sz="3600" dirty="0"/>
          </a:p>
        </p:txBody>
      </p:sp>
      <p:sp>
        <p:nvSpPr>
          <p:cNvPr id="3" name="Phase Cadrage"/>
          <p:cNvSpPr/>
          <p:nvPr/>
        </p:nvSpPr>
        <p:spPr>
          <a:xfrm>
            <a:off x="548640" y="1417320"/>
            <a:ext cx="2514600" cy="1280160"/>
          </a:xfrm>
          <a:prstGeom prst="roundRect">
            <a:avLst>
              <a:gd name="adj" fmla="val 8571"/>
            </a:avLst>
          </a:prstGeom>
          <a:solidFill>
            <a:schemeClr val="bg2"/>
          </a:solidFill>
          <a:ln/>
        </p:spPr>
      </p:sp>
      <p:sp>
        <p:nvSpPr>
          <p:cNvPr id="4" name="Text 2"/>
          <p:cNvSpPr txBox="1"/>
          <p:nvPr/>
        </p:nvSpPr>
        <p:spPr>
          <a:xfrm>
            <a:off x="731520" y="1508760"/>
            <a:ext cx="2148840" cy="365760"/>
          </a:xfrm>
          <a:prstGeom prst="rect">
            <a:avLst/>
          </a:prstGeom>
          <a:noFill/>
          <a:ln/>
        </p:spPr>
        <p:txBody>
          <a:bodyPr wrap="square" lIns="0" tIns="0" rIns="0" bIns="0" rtlCol="0" anchor="ctr"/>
          <a:lstStyle/>
          <a:p>
            <a:pPr indent="0" marL="0">
              <a:buNone/>
            </a:pPr>
            <a:r>
              <a:rPr lang="en-US" sz="1800" b="1" dirty="0">
                <a:solidFill>
                  <a:schemeClr val="tx2"/>
                </a:solidFill>
              </a:rPr>
              <a:t>Cadrage</a:t>
            </a:r>
            <a:endParaRPr lang="en-US" sz="1800" dirty="0"/>
          </a:p>
        </p:txBody>
      </p:sp>
      <p:sp>
        <p:nvSpPr>
          <p:cNvPr id="5" name="Text 3"/>
          <p:cNvSpPr txBox="1"/>
          <p:nvPr/>
        </p:nvSpPr>
        <p:spPr>
          <a:xfrm>
            <a:off x="731520" y="1892808"/>
            <a:ext cx="2148840" cy="749808"/>
          </a:xfrm>
          <a:prstGeom prst="rect">
            <a:avLst/>
          </a:prstGeom>
          <a:noFill/>
          <a:ln/>
        </p:spPr>
        <p:txBody>
          <a:bodyPr wrap="square" lIns="0" tIns="0" rIns="0" bIns="0" rtlCol="0" anchor="t"/>
          <a:lstStyle/>
          <a:p>
            <a:pPr indent="0" marL="0">
              <a:buNone/>
            </a:pPr>
            <a:r>
              <a:rPr lang="en-US" sz="1400" dirty="0">
                <a:solidFill>
                  <a:schemeClr val="tx1"/>
                </a:solidFill>
              </a:rPr>
              <a:t>Seuils, tickets et règle de décision fixés ensemble, en une réunion</a:t>
            </a:r>
            <a:endParaRPr lang="en-US" sz="1400" dirty="0"/>
          </a:p>
        </p:txBody>
      </p:sp>
      <p:sp>
        <p:nvSpPr>
          <p:cNvPr id="6" name="Phase flèche 1"/>
          <p:cNvSpPr/>
          <p:nvPr/>
        </p:nvSpPr>
        <p:spPr>
          <a:xfrm>
            <a:off x="3063240" y="2057400"/>
            <a:ext cx="365760" cy="0"/>
          </a:xfrm>
          <a:prstGeom prst="line">
            <a:avLst/>
          </a:prstGeom>
          <a:noFill/>
          <a:ln w="22225">
            <a:solidFill>
              <a:schemeClr val="accent5"/>
            </a:solidFill>
            <a:prstDash val="solid"/>
            <a:tailEnd type="triangle"/>
          </a:ln>
        </p:spPr>
      </p:sp>
      <p:sp>
        <p:nvSpPr>
          <p:cNvPr id="7" name="Phase Pilote"/>
          <p:cNvSpPr/>
          <p:nvPr/>
        </p:nvSpPr>
        <p:spPr>
          <a:xfrm>
            <a:off x="3429000" y="1417320"/>
            <a:ext cx="2514600" cy="1280160"/>
          </a:xfrm>
          <a:prstGeom prst="roundRect">
            <a:avLst>
              <a:gd name="adj" fmla="val 8571"/>
            </a:avLst>
          </a:prstGeom>
          <a:solidFill>
            <a:schemeClr val="bg2"/>
          </a:solidFill>
          <a:ln/>
        </p:spPr>
      </p:sp>
      <p:sp>
        <p:nvSpPr>
          <p:cNvPr id="8" name="Text 6"/>
          <p:cNvSpPr txBox="1"/>
          <p:nvPr/>
        </p:nvSpPr>
        <p:spPr>
          <a:xfrm>
            <a:off x="3611880" y="1508760"/>
            <a:ext cx="2148840" cy="365760"/>
          </a:xfrm>
          <a:prstGeom prst="rect">
            <a:avLst/>
          </a:prstGeom>
          <a:noFill/>
          <a:ln/>
        </p:spPr>
        <p:txBody>
          <a:bodyPr wrap="square" lIns="0" tIns="0" rIns="0" bIns="0" rtlCol="0" anchor="ctr"/>
          <a:lstStyle/>
          <a:p>
            <a:pPr indent="0" marL="0">
              <a:buNone/>
            </a:pPr>
            <a:r>
              <a:rPr lang="en-US" sz="1800" b="1" dirty="0">
                <a:solidFill>
                  <a:schemeClr val="tx2"/>
                </a:solidFill>
              </a:rPr>
              <a:t>Pilote</a:t>
            </a:r>
            <a:endParaRPr lang="en-US" sz="1800" dirty="0"/>
          </a:p>
        </p:txBody>
      </p:sp>
      <p:sp>
        <p:nvSpPr>
          <p:cNvPr id="9" name="Text 7"/>
          <p:cNvSpPr txBox="1"/>
          <p:nvPr/>
        </p:nvSpPr>
        <p:spPr>
          <a:xfrm>
            <a:off x="3611880" y="1892808"/>
            <a:ext cx="2148840" cy="749808"/>
          </a:xfrm>
          <a:prstGeom prst="rect">
            <a:avLst/>
          </a:prstGeom>
          <a:noFill/>
          <a:ln/>
        </p:spPr>
        <p:txBody>
          <a:bodyPr wrap="square" lIns="0" tIns="0" rIns="0" bIns="0" rtlCol="0" anchor="t"/>
          <a:lstStyle/>
          <a:p>
            <a:pPr indent="0" marL="0">
              <a:buNone/>
            </a:pPr>
            <a:r>
              <a:rPr lang="en-US" sz="1400" dirty="0">
                <a:solidFill>
                  <a:schemeClr val="tx1"/>
                </a:solidFill>
              </a:rPr>
              <a:t>Deux à trois sprints, dix tickets ou plus par groupe</a:t>
            </a:r>
            <a:endParaRPr lang="en-US" sz="1400" dirty="0"/>
          </a:p>
        </p:txBody>
      </p:sp>
      <p:sp>
        <p:nvSpPr>
          <p:cNvPr id="10" name="Phase flèche 2"/>
          <p:cNvSpPr/>
          <p:nvPr/>
        </p:nvSpPr>
        <p:spPr>
          <a:xfrm>
            <a:off x="5943600" y="2057400"/>
            <a:ext cx="365760" cy="0"/>
          </a:xfrm>
          <a:prstGeom prst="line">
            <a:avLst/>
          </a:prstGeom>
          <a:noFill/>
          <a:ln w="22225">
            <a:solidFill>
              <a:schemeClr val="accent5"/>
            </a:solidFill>
            <a:prstDash val="solid"/>
            <a:tailEnd type="triangle"/>
          </a:ln>
        </p:spPr>
      </p:sp>
      <p:sp>
        <p:nvSpPr>
          <p:cNvPr id="11" name="Phase Mesure"/>
          <p:cNvSpPr/>
          <p:nvPr/>
        </p:nvSpPr>
        <p:spPr>
          <a:xfrm>
            <a:off x="6309360" y="1417320"/>
            <a:ext cx="2514600" cy="1280160"/>
          </a:xfrm>
          <a:prstGeom prst="roundRect">
            <a:avLst>
              <a:gd name="adj" fmla="val 8571"/>
            </a:avLst>
          </a:prstGeom>
          <a:solidFill>
            <a:schemeClr val="bg2"/>
          </a:solidFill>
          <a:ln/>
        </p:spPr>
      </p:sp>
      <p:sp>
        <p:nvSpPr>
          <p:cNvPr id="12" name="Text 10"/>
          <p:cNvSpPr txBox="1"/>
          <p:nvPr/>
        </p:nvSpPr>
        <p:spPr>
          <a:xfrm>
            <a:off x="6492240" y="1508760"/>
            <a:ext cx="2148840" cy="365760"/>
          </a:xfrm>
          <a:prstGeom prst="rect">
            <a:avLst/>
          </a:prstGeom>
          <a:noFill/>
          <a:ln/>
        </p:spPr>
        <p:txBody>
          <a:bodyPr wrap="square" lIns="0" tIns="0" rIns="0" bIns="0" rtlCol="0" anchor="ctr"/>
          <a:lstStyle/>
          <a:p>
            <a:pPr indent="0" marL="0">
              <a:buNone/>
            </a:pPr>
            <a:r>
              <a:rPr lang="en-US" sz="1800" b="1" dirty="0">
                <a:solidFill>
                  <a:schemeClr val="tx2"/>
                </a:solidFill>
              </a:rPr>
              <a:t>Mesure</a:t>
            </a:r>
            <a:endParaRPr lang="en-US" sz="1800" dirty="0"/>
          </a:p>
        </p:txBody>
      </p:sp>
      <p:sp>
        <p:nvSpPr>
          <p:cNvPr id="13" name="Text 11"/>
          <p:cNvSpPr txBox="1"/>
          <p:nvPr/>
        </p:nvSpPr>
        <p:spPr>
          <a:xfrm>
            <a:off x="6492240" y="1892808"/>
            <a:ext cx="2148840" cy="749808"/>
          </a:xfrm>
          <a:prstGeom prst="rect">
            <a:avLst/>
          </a:prstGeom>
          <a:noFill/>
          <a:ln/>
        </p:spPr>
        <p:txBody>
          <a:bodyPr wrap="square" lIns="0" tIns="0" rIns="0" bIns="0" rtlCol="0" anchor="t"/>
          <a:lstStyle/>
          <a:p>
            <a:pPr indent="0" marL="0">
              <a:buNone/>
            </a:pPr>
            <a:r>
              <a:rPr lang="en-US" sz="1400" dirty="0">
                <a:solidFill>
                  <a:schemeClr val="tx1"/>
                </a:solidFill>
              </a:rPr>
              <a:t>Indicateurs Jira et GitLab, évaluateur indépendant, données brutes</a:t>
            </a:r>
            <a:endParaRPr lang="en-US" sz="1400" dirty="0"/>
          </a:p>
        </p:txBody>
      </p:sp>
      <p:sp>
        <p:nvSpPr>
          <p:cNvPr id="14" name="Phase flèche 3"/>
          <p:cNvSpPr/>
          <p:nvPr/>
        </p:nvSpPr>
        <p:spPr>
          <a:xfrm>
            <a:off x="8823960" y="2057400"/>
            <a:ext cx="365760" cy="0"/>
          </a:xfrm>
          <a:prstGeom prst="line">
            <a:avLst/>
          </a:prstGeom>
          <a:noFill/>
          <a:ln w="22225">
            <a:solidFill>
              <a:schemeClr val="accent5"/>
            </a:solidFill>
            <a:prstDash val="solid"/>
            <a:tailEnd type="triangle"/>
          </a:ln>
        </p:spPr>
      </p:sp>
      <p:sp>
        <p:nvSpPr>
          <p:cNvPr id="15" name="Décision"/>
          <p:cNvSpPr txBox="1"/>
          <p:nvPr/>
        </p:nvSpPr>
        <p:spPr>
          <a:xfrm>
            <a:off x="9189720" y="1280160"/>
            <a:ext cx="2423160" cy="1554480"/>
          </a:xfrm>
          <a:prstGeom prst="diamond">
            <a:avLst/>
          </a:prstGeom>
          <a:solidFill>
            <a:schemeClr val="accent1"/>
          </a:solidFill>
          <a:ln/>
        </p:spPr>
        <p:txBody>
          <a:bodyPr wrap="square" lIns="635" tIns="635" rIns="635" bIns="635" rtlCol="0" anchor="ctr"/>
          <a:lstStyle/>
          <a:p>
            <a:pPr algn="ctr" indent="0" marL="0">
              <a:buNone/>
            </a:pPr>
            <a:r>
              <a:rPr lang="en-US" sz="1600" b="1" dirty="0">
                <a:solidFill>
                  <a:schemeClr val="bg1"/>
                </a:solidFill>
              </a:rPr>
              <a:t>Gain mesuré ?</a:t>
            </a:r>
            <a:endParaRPr lang="en-US" sz="1600" dirty="0"/>
          </a:p>
        </p:txBody>
      </p:sp>
      <p:sp>
        <p:nvSpPr>
          <p:cNvPr id="16" name="Décision (descente)"/>
          <p:cNvSpPr/>
          <p:nvPr/>
        </p:nvSpPr>
        <p:spPr>
          <a:xfrm>
            <a:off x="10401300" y="2834640"/>
            <a:ext cx="0" cy="320040"/>
          </a:xfrm>
          <a:prstGeom prst="line">
            <a:avLst/>
          </a:prstGeom>
          <a:noFill/>
          <a:ln w="22225">
            <a:solidFill>
              <a:schemeClr val="accent5"/>
            </a:solidFill>
            <a:prstDash val="solid"/>
          </a:ln>
        </p:spPr>
      </p:sp>
      <p:sp>
        <p:nvSpPr>
          <p:cNvPr id="17" name="Décision (répartition)"/>
          <p:cNvSpPr/>
          <p:nvPr/>
        </p:nvSpPr>
        <p:spPr>
          <a:xfrm>
            <a:off x="2286000" y="3154680"/>
            <a:ext cx="8115300" cy="0"/>
          </a:xfrm>
          <a:prstGeom prst="line">
            <a:avLst/>
          </a:prstGeom>
          <a:noFill/>
          <a:ln w="22225">
            <a:solidFill>
              <a:schemeClr val="accent5"/>
            </a:solidFill>
            <a:prstDash val="solid"/>
          </a:ln>
        </p:spPr>
      </p:sp>
      <p:sp>
        <p:nvSpPr>
          <p:cNvPr id="18" name="Vers issue 1"/>
          <p:cNvSpPr/>
          <p:nvPr/>
        </p:nvSpPr>
        <p:spPr>
          <a:xfrm>
            <a:off x="2286000" y="3154680"/>
            <a:ext cx="0" cy="365760"/>
          </a:xfrm>
          <a:prstGeom prst="line">
            <a:avLst/>
          </a:prstGeom>
          <a:noFill/>
          <a:ln w="22225">
            <a:solidFill>
              <a:schemeClr val="accent5"/>
            </a:solidFill>
            <a:prstDash val="solid"/>
            <a:tailEnd type="triangle"/>
          </a:ln>
        </p:spPr>
      </p:sp>
      <p:sp>
        <p:nvSpPr>
          <p:cNvPr id="19" name="Issue 1"/>
          <p:cNvSpPr/>
          <p:nvPr/>
        </p:nvSpPr>
        <p:spPr>
          <a:xfrm>
            <a:off x="548640" y="3520440"/>
            <a:ext cx="3474720" cy="1691640"/>
          </a:xfrm>
          <a:prstGeom prst="roundRect">
            <a:avLst>
              <a:gd name="adj" fmla="val 6486"/>
            </a:avLst>
          </a:prstGeom>
          <a:solidFill>
            <a:schemeClr val="bg2"/>
          </a:solidFill>
          <a:ln/>
        </p:spPr>
      </p:sp>
      <p:sp>
        <p:nvSpPr>
          <p:cNvPr id="20" name="Issue 1 (pastille)"/>
          <p:cNvSpPr/>
          <p:nvPr/>
        </p:nvSpPr>
        <p:spPr>
          <a:xfrm>
            <a:off x="777240" y="3703320"/>
            <a:ext cx="594360" cy="594360"/>
          </a:xfrm>
          <a:prstGeom prst="ellipse">
            <a:avLst/>
          </a:prstGeom>
          <a:solidFill>
            <a:schemeClr val="accent1"/>
          </a:solidFill>
          <a:ln/>
        </p:spPr>
      </p:sp>
      <p:pic>
        <p:nvPicPr>
          <p:cNvPr id="21" name="Issue 1 (icône)" descr="Continuer et étendre">    </p:cNvPr>
          <p:cNvPicPr>
            <a:picLocks noChangeAspect="1"/>
          </p:cNvPicPr>
          <p:nvPr/>
        </p:nvPicPr>
        <p:blipFill>
          <a:blip r:embed="rId1"/>
          <a:stretch>
            <a:fillRect/>
          </a:stretch>
        </p:blipFill>
        <p:spPr>
          <a:xfrm>
            <a:off x="896112" y="3822192"/>
            <a:ext cx="356616" cy="356616"/>
          </a:xfrm>
          <a:prstGeom prst="rect">
            <a:avLst/>
          </a:prstGeom>
        </p:spPr>
      </p:pic>
      <p:sp>
        <p:nvSpPr>
          <p:cNvPr id="22" name="Text 19"/>
          <p:cNvSpPr txBox="1"/>
          <p:nvPr/>
        </p:nvSpPr>
        <p:spPr>
          <a:xfrm>
            <a:off x="1508760" y="3703320"/>
            <a:ext cx="2377440" cy="594360"/>
          </a:xfrm>
          <a:prstGeom prst="rect">
            <a:avLst/>
          </a:prstGeom>
          <a:noFill/>
          <a:ln/>
        </p:spPr>
        <p:txBody>
          <a:bodyPr wrap="square" lIns="0" tIns="0" rIns="0" bIns="0" rtlCol="0" anchor="ctr"/>
          <a:lstStyle/>
          <a:p>
            <a:pPr indent="0" marL="0">
              <a:buNone/>
            </a:pPr>
            <a:r>
              <a:rPr lang="en-US" sz="1800" b="1" dirty="0">
                <a:solidFill>
                  <a:schemeClr val="tx2"/>
                </a:solidFill>
              </a:rPr>
              <a:t>Continuer et étendre</a:t>
            </a:r>
            <a:endParaRPr lang="en-US" sz="1800" dirty="0"/>
          </a:p>
        </p:txBody>
      </p:sp>
      <p:sp>
        <p:nvSpPr>
          <p:cNvPr id="23" name="Text 20"/>
          <p:cNvSpPr txBox="1"/>
          <p:nvPr/>
        </p:nvSpPr>
        <p:spPr>
          <a:xfrm>
            <a:off x="777240" y="4434840"/>
            <a:ext cx="3017520" cy="731520"/>
          </a:xfrm>
          <a:prstGeom prst="rect">
            <a:avLst/>
          </a:prstGeom>
          <a:noFill/>
          <a:ln/>
        </p:spPr>
        <p:txBody>
          <a:bodyPr wrap="square" lIns="0" tIns="0" rIns="0" bIns="0" rtlCol="0" anchor="t"/>
          <a:lstStyle/>
          <a:p>
            <a:pPr indent="0" marL="0">
              <a:buNone/>
            </a:pPr>
            <a:r>
              <a:rPr lang="en-US" sz="1400" dirty="0">
                <a:solidFill>
                  <a:schemeClr val="tx1"/>
                </a:solidFill>
              </a:rPr>
              <a:t>si le gain dépasse le seuil de rentabilité, sans hausse des anomalies ni des reprises</a:t>
            </a:r>
            <a:endParaRPr lang="en-US" sz="1400" dirty="0"/>
          </a:p>
        </p:txBody>
      </p:sp>
      <p:sp>
        <p:nvSpPr>
          <p:cNvPr id="24" name="Vers issue 2"/>
          <p:cNvSpPr/>
          <p:nvPr/>
        </p:nvSpPr>
        <p:spPr>
          <a:xfrm>
            <a:off x="6080760" y="3154680"/>
            <a:ext cx="0" cy="365760"/>
          </a:xfrm>
          <a:prstGeom prst="line">
            <a:avLst/>
          </a:prstGeom>
          <a:noFill/>
          <a:ln w="22225">
            <a:solidFill>
              <a:schemeClr val="accent5"/>
            </a:solidFill>
            <a:prstDash val="solid"/>
            <a:tailEnd type="triangle"/>
          </a:ln>
        </p:spPr>
      </p:sp>
      <p:sp>
        <p:nvSpPr>
          <p:cNvPr id="25" name="Issue 2"/>
          <p:cNvSpPr/>
          <p:nvPr/>
        </p:nvSpPr>
        <p:spPr>
          <a:xfrm>
            <a:off x="4343400" y="3520440"/>
            <a:ext cx="3474720" cy="1691640"/>
          </a:xfrm>
          <a:prstGeom prst="roundRect">
            <a:avLst>
              <a:gd name="adj" fmla="val 6486"/>
            </a:avLst>
          </a:prstGeom>
          <a:solidFill>
            <a:schemeClr val="bg2"/>
          </a:solidFill>
          <a:ln/>
        </p:spPr>
      </p:sp>
      <p:sp>
        <p:nvSpPr>
          <p:cNvPr id="26" name="Issue 2 (pastille)"/>
          <p:cNvSpPr/>
          <p:nvPr/>
        </p:nvSpPr>
        <p:spPr>
          <a:xfrm>
            <a:off x="4572000" y="3703320"/>
            <a:ext cx="594360" cy="594360"/>
          </a:xfrm>
          <a:prstGeom prst="ellipse">
            <a:avLst/>
          </a:prstGeom>
          <a:solidFill>
            <a:schemeClr val="accent2"/>
          </a:solidFill>
          <a:ln/>
        </p:spPr>
      </p:sp>
      <p:pic>
        <p:nvPicPr>
          <p:cNvPr id="27" name="Issue 2 (icône)" descr="Ajuster et remesurer">    </p:cNvPr>
          <p:cNvPicPr>
            <a:picLocks noChangeAspect="1"/>
          </p:cNvPicPr>
          <p:nvPr/>
        </p:nvPicPr>
        <p:blipFill>
          <a:blip r:embed="rId2"/>
          <a:stretch>
            <a:fillRect/>
          </a:stretch>
        </p:blipFill>
        <p:spPr>
          <a:xfrm>
            <a:off x="4690872" y="3822192"/>
            <a:ext cx="356616" cy="356616"/>
          </a:xfrm>
          <a:prstGeom prst="rect">
            <a:avLst/>
          </a:prstGeom>
        </p:spPr>
      </p:pic>
      <p:sp>
        <p:nvSpPr>
          <p:cNvPr id="28" name="Text 24"/>
          <p:cNvSpPr txBox="1"/>
          <p:nvPr/>
        </p:nvSpPr>
        <p:spPr>
          <a:xfrm>
            <a:off x="5303520" y="3703320"/>
            <a:ext cx="2377440" cy="594360"/>
          </a:xfrm>
          <a:prstGeom prst="rect">
            <a:avLst/>
          </a:prstGeom>
          <a:noFill/>
          <a:ln/>
        </p:spPr>
        <p:txBody>
          <a:bodyPr wrap="square" lIns="0" tIns="0" rIns="0" bIns="0" rtlCol="0" anchor="ctr"/>
          <a:lstStyle/>
          <a:p>
            <a:pPr indent="0" marL="0">
              <a:buNone/>
            </a:pPr>
            <a:r>
              <a:rPr lang="en-US" sz="1800" b="1" dirty="0">
                <a:solidFill>
                  <a:schemeClr val="tx2"/>
                </a:solidFill>
              </a:rPr>
              <a:t>Ajuster et remesurer</a:t>
            </a:r>
            <a:endParaRPr lang="en-US" sz="1800" dirty="0"/>
          </a:p>
        </p:txBody>
      </p:sp>
      <p:sp>
        <p:nvSpPr>
          <p:cNvPr id="29" name="Text 25"/>
          <p:cNvSpPr txBox="1"/>
          <p:nvPr/>
        </p:nvSpPr>
        <p:spPr>
          <a:xfrm>
            <a:off x="4572000" y="4434840"/>
            <a:ext cx="3017520" cy="731520"/>
          </a:xfrm>
          <a:prstGeom prst="rect">
            <a:avLst/>
          </a:prstGeom>
          <a:noFill/>
          <a:ln/>
        </p:spPr>
        <p:txBody>
          <a:bodyPr wrap="square" lIns="0" tIns="0" rIns="0" bIns="0" rtlCol="0" anchor="t"/>
          <a:lstStyle/>
          <a:p>
            <a:pPr indent="0" marL="0">
              <a:buNone/>
            </a:pPr>
            <a:r>
              <a:rPr lang="en-US" sz="1400" dirty="0">
                <a:solidFill>
                  <a:schemeClr val="tx1"/>
                </a:solidFill>
              </a:rPr>
              <a:t>si le gain est positif mais sous le seuil</a:t>
            </a:r>
            <a:endParaRPr lang="en-US" sz="1400" dirty="0"/>
          </a:p>
        </p:txBody>
      </p:sp>
      <p:sp>
        <p:nvSpPr>
          <p:cNvPr id="30" name="Vers issue 3"/>
          <p:cNvSpPr/>
          <p:nvPr/>
        </p:nvSpPr>
        <p:spPr>
          <a:xfrm>
            <a:off x="9875520" y="3154680"/>
            <a:ext cx="0" cy="365760"/>
          </a:xfrm>
          <a:prstGeom prst="line">
            <a:avLst/>
          </a:prstGeom>
          <a:noFill/>
          <a:ln w="22225">
            <a:solidFill>
              <a:schemeClr val="accent5"/>
            </a:solidFill>
            <a:prstDash val="solid"/>
            <a:tailEnd type="triangle"/>
          </a:ln>
        </p:spPr>
      </p:sp>
      <p:sp>
        <p:nvSpPr>
          <p:cNvPr id="31" name="Issue 3"/>
          <p:cNvSpPr/>
          <p:nvPr/>
        </p:nvSpPr>
        <p:spPr>
          <a:xfrm>
            <a:off x="8138160" y="3520440"/>
            <a:ext cx="3474720" cy="1691640"/>
          </a:xfrm>
          <a:prstGeom prst="roundRect">
            <a:avLst>
              <a:gd name="adj" fmla="val 6486"/>
            </a:avLst>
          </a:prstGeom>
          <a:solidFill>
            <a:schemeClr val="bg2"/>
          </a:solidFill>
          <a:ln/>
        </p:spPr>
      </p:sp>
      <p:sp>
        <p:nvSpPr>
          <p:cNvPr id="32" name="Issue 3 (pastille)"/>
          <p:cNvSpPr/>
          <p:nvPr/>
        </p:nvSpPr>
        <p:spPr>
          <a:xfrm>
            <a:off x="8366760" y="3703320"/>
            <a:ext cx="594360" cy="594360"/>
          </a:xfrm>
          <a:prstGeom prst="ellipse">
            <a:avLst/>
          </a:prstGeom>
          <a:solidFill>
            <a:schemeClr val="accent5"/>
          </a:solidFill>
          <a:ln/>
        </p:spPr>
      </p:sp>
      <p:pic>
        <p:nvPicPr>
          <p:cNvPr id="33" name="Issue 3 (icône)" descr="Arrêter">    </p:cNvPr>
          <p:cNvPicPr>
            <a:picLocks noChangeAspect="1"/>
          </p:cNvPicPr>
          <p:nvPr/>
        </p:nvPicPr>
        <p:blipFill>
          <a:blip r:embed="rId3"/>
          <a:stretch>
            <a:fillRect/>
          </a:stretch>
        </p:blipFill>
        <p:spPr>
          <a:xfrm>
            <a:off x="8485632" y="3822192"/>
            <a:ext cx="356616" cy="356616"/>
          </a:xfrm>
          <a:prstGeom prst="rect">
            <a:avLst/>
          </a:prstGeom>
        </p:spPr>
      </p:pic>
      <p:sp>
        <p:nvSpPr>
          <p:cNvPr id="34" name="Text 29"/>
          <p:cNvSpPr txBox="1"/>
          <p:nvPr/>
        </p:nvSpPr>
        <p:spPr>
          <a:xfrm>
            <a:off x="9098280" y="3703320"/>
            <a:ext cx="2377440" cy="594360"/>
          </a:xfrm>
          <a:prstGeom prst="rect">
            <a:avLst/>
          </a:prstGeom>
          <a:noFill/>
          <a:ln/>
        </p:spPr>
        <p:txBody>
          <a:bodyPr wrap="square" lIns="0" tIns="0" rIns="0" bIns="0" rtlCol="0" anchor="ctr"/>
          <a:lstStyle/>
          <a:p>
            <a:pPr indent="0" marL="0">
              <a:buNone/>
            </a:pPr>
            <a:r>
              <a:rPr lang="en-US" sz="1800" b="1" dirty="0">
                <a:solidFill>
                  <a:schemeClr val="tx2"/>
                </a:solidFill>
              </a:rPr>
              <a:t>Arrêter</a:t>
            </a:r>
            <a:endParaRPr lang="en-US" sz="1800" dirty="0"/>
          </a:p>
        </p:txBody>
      </p:sp>
      <p:sp>
        <p:nvSpPr>
          <p:cNvPr id="35" name="Text 30"/>
          <p:cNvSpPr txBox="1"/>
          <p:nvPr/>
        </p:nvSpPr>
        <p:spPr>
          <a:xfrm>
            <a:off x="8366760" y="4434840"/>
            <a:ext cx="3017520" cy="731520"/>
          </a:xfrm>
          <a:prstGeom prst="rect">
            <a:avLst/>
          </a:prstGeom>
          <a:noFill/>
          <a:ln/>
        </p:spPr>
        <p:txBody>
          <a:bodyPr wrap="square" lIns="0" tIns="0" rIns="0" bIns="0" rtlCol="0" anchor="t"/>
          <a:lstStyle/>
          <a:p>
            <a:pPr indent="0" marL="0">
              <a:buNone/>
            </a:pPr>
            <a:r>
              <a:rPr lang="en-US" sz="1400" dirty="0">
                <a:solidFill>
                  <a:schemeClr val="tx1"/>
                </a:solidFill>
              </a:rPr>
              <a:t>si le gain est nul ou négatif</a:t>
            </a:r>
            <a:endParaRPr lang="en-US" sz="1400" dirty="0"/>
          </a:p>
        </p:txBody>
      </p:sp>
      <p:sp>
        <p:nvSpPr>
          <p:cNvPr id="36" name="Text 31"/>
          <p:cNvSpPr txBox="1"/>
          <p:nvPr/>
        </p:nvSpPr>
        <p:spPr>
          <a:xfrm>
            <a:off x="548640" y="5440680"/>
            <a:ext cx="11064240" cy="640080"/>
          </a:xfrm>
          <a:prstGeom prst="rect">
            <a:avLst/>
          </a:prstGeom>
          <a:noFill/>
          <a:ln/>
        </p:spPr>
        <p:txBody>
          <a:bodyPr wrap="square" lIns="0" tIns="0" rIns="0" bIns="0" rtlCol="0" anchor="ctr"/>
          <a:lstStyle/>
          <a:p>
            <a:pPr indent="0" marL="0">
              <a:buNone/>
            </a:pPr>
            <a:r>
              <a:rPr lang="en-US" sz="1600" b="1" dirty="0">
                <a:solidFill>
                  <a:schemeClr val="tx2"/>
                </a:solidFill>
              </a:rPr>
              <a:t>La règle est fixée avant le pilote, pas après. Restitution : un rapport chiffré par indicateur, avec les données brutes.</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Un investissement mesurable</a:t>
            </a:r>
            <a:endParaRPr lang="en-US" sz="3600" dirty="0"/>
          </a:p>
        </p:txBody>
      </p:sp>
      <p:sp>
        <p:nvSpPr>
          <p:cNvPr id="3" name="Résumé 1 (pastille)"/>
          <p:cNvSpPr/>
          <p:nvPr/>
        </p:nvSpPr>
        <p:spPr>
          <a:xfrm>
            <a:off x="548640" y="1463040"/>
            <a:ext cx="640080" cy="640080"/>
          </a:xfrm>
          <a:prstGeom prst="ellipse">
            <a:avLst/>
          </a:prstGeom>
          <a:solidFill>
            <a:schemeClr val="accent1"/>
          </a:solidFill>
          <a:ln/>
        </p:spPr>
      </p:sp>
      <p:pic>
        <p:nvPicPr>
          <p:cNvPr id="4" name="Résumé 1 (icône)" descr="La contrepartie est directe">    </p:cNvPr>
          <p:cNvPicPr>
            <a:picLocks noChangeAspect="1"/>
          </p:cNvPicPr>
          <p:nvPr/>
        </p:nvPicPr>
        <p:blipFill>
          <a:blip r:embed="rId1"/>
          <a:stretch>
            <a:fillRect/>
          </a:stretch>
        </p:blipFill>
        <p:spPr>
          <a:xfrm>
            <a:off x="676656" y="1591056"/>
            <a:ext cx="384048" cy="384048"/>
          </a:xfrm>
          <a:prstGeom prst="rect">
            <a:avLst/>
          </a:prstGeom>
        </p:spPr>
      </p:pic>
      <p:sp>
        <p:nvSpPr>
          <p:cNvPr id="5" name="Text 2"/>
          <p:cNvSpPr txBox="1"/>
          <p:nvPr/>
        </p:nvSpPr>
        <p:spPr>
          <a:xfrm>
            <a:off x="1417320" y="1417320"/>
            <a:ext cx="3931920" cy="731520"/>
          </a:xfrm>
          <a:prstGeom prst="rect">
            <a:avLst/>
          </a:prstGeom>
          <a:noFill/>
          <a:ln/>
        </p:spPr>
        <p:txBody>
          <a:bodyPr wrap="square" lIns="0" tIns="0" rIns="0" bIns="0" rtlCol="0" anchor="ctr"/>
          <a:lstStyle/>
          <a:p>
            <a:pPr indent="0" marL="0">
              <a:buNone/>
            </a:pPr>
            <a:r>
              <a:rPr lang="en-US" sz="2000" b="1" dirty="0">
                <a:solidFill>
                  <a:schemeClr val="tx2"/>
                </a:solidFill>
              </a:rPr>
              <a:t>La contrepartie est directe</a:t>
            </a:r>
            <a:endParaRPr lang="en-US" sz="2000" dirty="0"/>
          </a:p>
        </p:txBody>
      </p:sp>
      <p:sp>
        <p:nvSpPr>
          <p:cNvPr id="6" name="Text 3"/>
          <p:cNvSpPr txBox="1"/>
          <p:nvPr/>
        </p:nvSpPr>
        <p:spPr>
          <a:xfrm>
            <a:off x="5440680" y="1417320"/>
            <a:ext cx="6172200" cy="731520"/>
          </a:xfrm>
          <a:prstGeom prst="rect">
            <a:avLst/>
          </a:prstGeom>
          <a:noFill/>
          <a:ln/>
        </p:spPr>
        <p:txBody>
          <a:bodyPr wrap="square" lIns="0" tIns="0" rIns="0" bIns="0" rtlCol="0" anchor="ctr"/>
          <a:lstStyle/>
          <a:p>
            <a:pPr indent="0" marL="0">
              <a:buNone/>
            </a:pPr>
            <a:r>
              <a:rPr lang="en-US" sz="1700" dirty="0">
                <a:solidFill>
                  <a:schemeClr val="tx1"/>
                </a:solidFill>
              </a:rPr>
              <a:t>chaque ticket livre code, tests et preuves</a:t>
            </a:r>
            <a:endParaRPr lang="en-US" sz="1700" dirty="0"/>
          </a:p>
        </p:txBody>
      </p:sp>
      <p:sp>
        <p:nvSpPr>
          <p:cNvPr id="7" name="Résumé 2 (pastille)"/>
          <p:cNvSpPr/>
          <p:nvPr/>
        </p:nvSpPr>
        <p:spPr>
          <a:xfrm>
            <a:off x="548640" y="2304288"/>
            <a:ext cx="640080" cy="640080"/>
          </a:xfrm>
          <a:prstGeom prst="ellipse">
            <a:avLst/>
          </a:prstGeom>
          <a:solidFill>
            <a:schemeClr val="accent1"/>
          </a:solidFill>
          <a:ln/>
        </p:spPr>
      </p:sp>
      <p:pic>
        <p:nvPicPr>
          <p:cNvPr id="8" name="Résumé 2 (icône)" descr="Elle se mesure">    </p:cNvPr>
          <p:cNvPicPr>
            <a:picLocks noChangeAspect="1"/>
          </p:cNvPicPr>
          <p:nvPr/>
        </p:nvPicPr>
        <p:blipFill>
          <a:blip r:embed="rId2"/>
          <a:stretch>
            <a:fillRect/>
          </a:stretch>
        </p:blipFill>
        <p:spPr>
          <a:xfrm>
            <a:off x="676656" y="2432304"/>
            <a:ext cx="384048" cy="384048"/>
          </a:xfrm>
          <a:prstGeom prst="rect">
            <a:avLst/>
          </a:prstGeom>
        </p:spPr>
      </p:pic>
      <p:sp>
        <p:nvSpPr>
          <p:cNvPr id="9" name="Text 5"/>
          <p:cNvSpPr txBox="1"/>
          <p:nvPr/>
        </p:nvSpPr>
        <p:spPr>
          <a:xfrm>
            <a:off x="1417320" y="2258568"/>
            <a:ext cx="3931920" cy="731520"/>
          </a:xfrm>
          <a:prstGeom prst="rect">
            <a:avLst/>
          </a:prstGeom>
          <a:noFill/>
          <a:ln/>
        </p:spPr>
        <p:txBody>
          <a:bodyPr wrap="square" lIns="0" tIns="0" rIns="0" bIns="0" rtlCol="0" anchor="ctr"/>
          <a:lstStyle/>
          <a:p>
            <a:pPr indent="0" marL="0">
              <a:buNone/>
            </a:pPr>
            <a:r>
              <a:rPr lang="en-US" sz="2000" b="1" dirty="0">
                <a:solidFill>
                  <a:schemeClr val="tx2"/>
                </a:solidFill>
              </a:rPr>
              <a:t>Elle se mesure</a:t>
            </a:r>
            <a:endParaRPr lang="en-US" sz="2000" dirty="0"/>
          </a:p>
        </p:txBody>
      </p:sp>
      <p:sp>
        <p:nvSpPr>
          <p:cNvPr id="10" name="Text 6"/>
          <p:cNvSpPr txBox="1"/>
          <p:nvPr/>
        </p:nvSpPr>
        <p:spPr>
          <a:xfrm>
            <a:off x="5440680" y="2258568"/>
            <a:ext cx="6172200" cy="731520"/>
          </a:xfrm>
          <a:prstGeom prst="rect">
            <a:avLst/>
          </a:prstGeom>
          <a:noFill/>
          <a:ln/>
        </p:spPr>
        <p:txBody>
          <a:bodyPr wrap="square" lIns="0" tIns="0" rIns="0" bIns="0" rtlCol="0" anchor="ctr"/>
          <a:lstStyle/>
          <a:p>
            <a:pPr indent="0" marL="0">
              <a:buNone/>
            </a:pPr>
            <a:r>
              <a:rPr lang="en-US" sz="1700" dirty="0">
                <a:solidFill>
                  <a:schemeClr val="tx1"/>
                </a:solidFill>
              </a:rPr>
              <a:t>sur vos tickets, contre un groupe témoin</a:t>
            </a:r>
            <a:endParaRPr lang="en-US" sz="1700" dirty="0"/>
          </a:p>
        </p:txBody>
      </p:sp>
      <p:sp>
        <p:nvSpPr>
          <p:cNvPr id="11" name="Résumé 3 (pastille)"/>
          <p:cNvSpPr/>
          <p:nvPr/>
        </p:nvSpPr>
        <p:spPr>
          <a:xfrm>
            <a:off x="548640" y="3145536"/>
            <a:ext cx="640080" cy="640080"/>
          </a:xfrm>
          <a:prstGeom prst="ellipse">
            <a:avLst/>
          </a:prstGeom>
          <a:solidFill>
            <a:schemeClr val="accent1"/>
          </a:solidFill>
          <a:ln/>
        </p:spPr>
      </p:sp>
      <p:pic>
        <p:nvPicPr>
          <p:cNvPr id="12" name="Résumé 3 (icône)" descr="Elle reste chez vous">    </p:cNvPr>
          <p:cNvPicPr>
            <a:picLocks noChangeAspect="1"/>
          </p:cNvPicPr>
          <p:nvPr/>
        </p:nvPicPr>
        <p:blipFill>
          <a:blip r:embed="rId3"/>
          <a:stretch>
            <a:fillRect/>
          </a:stretch>
        </p:blipFill>
        <p:spPr>
          <a:xfrm>
            <a:off x="676656" y="3273552"/>
            <a:ext cx="384048" cy="384048"/>
          </a:xfrm>
          <a:prstGeom prst="rect">
            <a:avLst/>
          </a:prstGeom>
        </p:spPr>
      </p:pic>
      <p:sp>
        <p:nvSpPr>
          <p:cNvPr id="13" name="Text 8"/>
          <p:cNvSpPr txBox="1"/>
          <p:nvPr/>
        </p:nvSpPr>
        <p:spPr>
          <a:xfrm>
            <a:off x="1417320" y="3099816"/>
            <a:ext cx="3931920" cy="731520"/>
          </a:xfrm>
          <a:prstGeom prst="rect">
            <a:avLst/>
          </a:prstGeom>
          <a:noFill/>
          <a:ln/>
        </p:spPr>
        <p:txBody>
          <a:bodyPr wrap="square" lIns="0" tIns="0" rIns="0" bIns="0" rtlCol="0" anchor="ctr"/>
          <a:lstStyle/>
          <a:p>
            <a:pPr indent="0" marL="0">
              <a:buNone/>
            </a:pPr>
            <a:r>
              <a:rPr lang="en-US" sz="2000" b="1" dirty="0">
                <a:solidFill>
                  <a:schemeClr val="tx2"/>
                </a:solidFill>
              </a:rPr>
              <a:t>Elle reste chez vous</a:t>
            </a:r>
            <a:endParaRPr lang="en-US" sz="2000" dirty="0"/>
          </a:p>
        </p:txBody>
      </p:sp>
      <p:sp>
        <p:nvSpPr>
          <p:cNvPr id="14" name="Text 9"/>
          <p:cNvSpPr txBox="1"/>
          <p:nvPr/>
        </p:nvSpPr>
        <p:spPr>
          <a:xfrm>
            <a:off x="5440680" y="3099816"/>
            <a:ext cx="6172200" cy="731520"/>
          </a:xfrm>
          <a:prstGeom prst="rect">
            <a:avLst/>
          </a:prstGeom>
          <a:noFill/>
          <a:ln/>
        </p:spPr>
        <p:txBody>
          <a:bodyPr wrap="square" lIns="0" tIns="0" rIns="0" bIns="0" rtlCol="0" anchor="ctr"/>
          <a:lstStyle/>
          <a:p>
            <a:pPr indent="0" marL="0">
              <a:buNone/>
            </a:pPr>
            <a:r>
              <a:rPr lang="en-US" sz="1700" dirty="0">
                <a:solidFill>
                  <a:schemeClr val="tx1"/>
                </a:solidFill>
              </a:rPr>
              <a:t>tests, fiches, registres et connaissances dans vos dépôts</a:t>
            </a:r>
            <a:endParaRPr lang="en-US" sz="1700" dirty="0"/>
          </a:p>
        </p:txBody>
      </p:sp>
      <p:sp>
        <p:nvSpPr>
          <p:cNvPr id="15" name="Résumé 4 (pastille)"/>
          <p:cNvSpPr/>
          <p:nvPr/>
        </p:nvSpPr>
        <p:spPr>
          <a:xfrm>
            <a:off x="548640" y="3986784"/>
            <a:ext cx="640080" cy="640080"/>
          </a:xfrm>
          <a:prstGeom prst="ellipse">
            <a:avLst/>
          </a:prstGeom>
          <a:solidFill>
            <a:schemeClr val="accent1"/>
          </a:solidFill>
          <a:ln/>
        </p:spPr>
      </p:sp>
      <p:pic>
        <p:nvPicPr>
          <p:cNvPr id="16" name="Résumé 4 (icône)" descr="Vous gardez la décision">    </p:cNvPr>
          <p:cNvPicPr>
            <a:picLocks noChangeAspect="1"/>
          </p:cNvPicPr>
          <p:nvPr/>
        </p:nvPicPr>
        <p:blipFill>
          <a:blip r:embed="rId4"/>
          <a:stretch>
            <a:fillRect/>
          </a:stretch>
        </p:blipFill>
        <p:spPr>
          <a:xfrm>
            <a:off x="676656" y="4114800"/>
            <a:ext cx="384048" cy="384048"/>
          </a:xfrm>
          <a:prstGeom prst="rect">
            <a:avLst/>
          </a:prstGeom>
        </p:spPr>
      </p:pic>
      <p:sp>
        <p:nvSpPr>
          <p:cNvPr id="17" name="Text 11"/>
          <p:cNvSpPr txBox="1"/>
          <p:nvPr/>
        </p:nvSpPr>
        <p:spPr>
          <a:xfrm>
            <a:off x="1417320" y="3941064"/>
            <a:ext cx="3931920" cy="731520"/>
          </a:xfrm>
          <a:prstGeom prst="rect">
            <a:avLst/>
          </a:prstGeom>
          <a:noFill/>
          <a:ln/>
        </p:spPr>
        <p:txBody>
          <a:bodyPr wrap="square" lIns="0" tIns="0" rIns="0" bIns="0" rtlCol="0" anchor="ctr"/>
          <a:lstStyle/>
          <a:p>
            <a:pPr indent="0" marL="0">
              <a:buNone/>
            </a:pPr>
            <a:r>
              <a:rPr lang="en-US" sz="2000" b="1" dirty="0">
                <a:solidFill>
                  <a:schemeClr val="tx2"/>
                </a:solidFill>
              </a:rPr>
              <a:t>Vous gardez la décision</a:t>
            </a:r>
            <a:endParaRPr lang="en-US" sz="2000" dirty="0"/>
          </a:p>
        </p:txBody>
      </p:sp>
      <p:sp>
        <p:nvSpPr>
          <p:cNvPr id="18" name="Text 12"/>
          <p:cNvSpPr txBox="1"/>
          <p:nvPr/>
        </p:nvSpPr>
        <p:spPr>
          <a:xfrm>
            <a:off x="5440680" y="3941064"/>
            <a:ext cx="6172200" cy="731520"/>
          </a:xfrm>
          <a:prstGeom prst="rect">
            <a:avLst/>
          </a:prstGeom>
          <a:noFill/>
          <a:ln/>
        </p:spPr>
        <p:txBody>
          <a:bodyPr wrap="square" lIns="0" tIns="0" rIns="0" bIns="0" rtlCol="0" anchor="ctr"/>
          <a:lstStyle/>
          <a:p>
            <a:pPr indent="0" marL="0">
              <a:buNone/>
            </a:pPr>
            <a:r>
              <a:rPr lang="en-US" sz="1700" dirty="0">
                <a:solidFill>
                  <a:schemeClr val="tx1"/>
                </a:solidFill>
              </a:rPr>
              <a:t>un pilote, une règle d'arrêt fixée d'avance</a:t>
            </a:r>
            <a:endParaRPr lang="en-US" sz="1700" dirty="0"/>
          </a:p>
        </p:txBody>
      </p:sp>
      <p:sp>
        <p:nvSpPr>
          <p:cNvPr id="19" name="Text 13"/>
          <p:cNvSpPr txBox="1"/>
          <p:nvPr/>
        </p:nvSpPr>
        <p:spPr>
          <a:xfrm>
            <a:off x="548640" y="4846320"/>
            <a:ext cx="11064240" cy="502920"/>
          </a:xfrm>
          <a:prstGeom prst="rect">
            <a:avLst/>
          </a:prstGeom>
          <a:noFill/>
          <a:ln/>
        </p:spPr>
        <p:txBody>
          <a:bodyPr wrap="square" lIns="0" tIns="0" rIns="0" bIns="0" rtlCol="0" anchor="ctr"/>
          <a:lstStyle/>
          <a:p>
            <a:pPr indent="0" marL="0">
              <a:buNone/>
            </a:pPr>
            <a:r>
              <a:rPr lang="en-US" sz="2000" i="1" dirty="0">
                <a:solidFill>
                  <a:schemeClr val="accent1"/>
                </a:solidFill>
                <a:latin typeface="+mj-lt" pitchFamily="34" charset="0"/>
                <a:ea typeface="+mj-lt" pitchFamily="34" charset="-122"/>
                <a:cs typeface="+mj-lt" pitchFamily="34" charset="-120"/>
              </a:rPr>
              <a:t>Nous ne promettons pas un pourcentage : nous promettons une mesure.</a:t>
            </a:r>
            <a:endParaRPr lang="en-US" sz="2000" dirty="0"/>
          </a:p>
        </p:txBody>
      </p:sp>
      <p:sp>
        <p:nvSpPr>
          <p:cNvPr id="20" name="Décision proposée"/>
          <p:cNvSpPr/>
          <p:nvPr/>
        </p:nvSpPr>
        <p:spPr>
          <a:xfrm>
            <a:off x="548640" y="5440680"/>
            <a:ext cx="11064240" cy="731520"/>
          </a:xfrm>
          <a:prstGeom prst="roundRect">
            <a:avLst>
              <a:gd name="adj" fmla="val 15000"/>
            </a:avLst>
          </a:prstGeom>
          <a:solidFill>
            <a:schemeClr val="bg2"/>
          </a:solidFill>
          <a:ln/>
        </p:spPr>
      </p:sp>
      <p:sp>
        <p:nvSpPr>
          <p:cNvPr id="21" name="Text 15"/>
          <p:cNvSpPr txBox="1"/>
          <p:nvPr/>
        </p:nvSpPr>
        <p:spPr>
          <a:xfrm>
            <a:off x="822960" y="5440680"/>
            <a:ext cx="10515600" cy="731520"/>
          </a:xfrm>
          <a:prstGeom prst="rect">
            <a:avLst/>
          </a:prstGeom>
          <a:noFill/>
          <a:ln/>
        </p:spPr>
        <p:txBody>
          <a:bodyPr wrap="square" lIns="0" tIns="0" rIns="0" bIns="0" rtlCol="0" anchor="ctr"/>
          <a:lstStyle/>
          <a:p>
            <a:pPr indent="0" marL="0">
              <a:buNone/>
            </a:pPr>
            <a:r>
              <a:rPr lang="en-US" sz="2200" b="1" dirty="0">
                <a:solidFill>
                  <a:schemeClr val="tx2"/>
                </a:solidFill>
              </a:rPr>
              <a:t>Décision proposée : lancer le pilote mesuré.</a:t>
            </a:r>
            <a:endParaRPr lang="en-US" sz="2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Annexe A : les outils déjà construits</a:t>
            </a:r>
            <a:endParaRPr lang="en-US" sz="3600" dirty="0"/>
          </a:p>
        </p:txBody>
      </p:sp>
      <p:graphicFrame>
        <p:nvGraphicFramePr>
          <p:cNvPr id="16" name="Outils"/>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846320"/>
                <a:gridCol w="6217920"/>
              </a:tblGrid>
              <a:tr h="457200">
                <a:tc>
                  <a:txBody>
                    <a:bodyPr/>
                    <a:lstStyle/>
                    <a:p>
                      <a:pPr indent="0" marL="0">
                        <a:buNone/>
                      </a:pPr>
                      <a:r>
                        <a:rPr lang="en-US" sz="1400" b="1" dirty="0">
                          <a:solidFill>
                            <a:schemeClr val="bg1"/>
                          </a:solidFill>
                        </a:rPr>
                        <a:t>Outil</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Ce que vous y gagnez</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Capture du sprint Jira</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des tickets complets pour l'IA, sans ressaisie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Mémoire de l'application (code et branches Git)</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l'IA lit le code réel au lieu de le deviner</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Orchestrateur de transformation</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chaque ticket justifié, prouvé et capitalisé</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Agents en parallèle (une branche par ticket)</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plusieurs tickets à la fois, sans collision</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Développement piloté par les tests</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chaque critère d'acceptation tracé jusqu'à son test</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Agent de test (Playwright)</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 verdict prouvé par critère d'acceptation</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Socle back-front</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des API et des écrans cohérents d'un ticket à l'autre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Analyse de projet et qualité (SonarQube)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une feuille de route et une dette suivie</a:t>
                      </a:r>
                      <a:endParaRPr lang="en-US" sz="1400" dirty="0"/>
                    </a:p>
                  </a:txBody>
                  <a:tcPr marL="109728" marR="109728"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bl>
          </a:graphicData>
        </a:graphic>
      </p:graphicFrame>
      <p:sp>
        <p:nvSpPr>
          <p:cNvPr id="4" name="Contrôle de la méthode (pastille)"/>
          <p:cNvSpPr/>
          <p:nvPr/>
        </p:nvSpPr>
        <p:spPr>
          <a:xfrm>
            <a:off x="548640" y="5596128"/>
            <a:ext cx="457200" cy="457200"/>
          </a:xfrm>
          <a:prstGeom prst="ellipse">
            <a:avLst/>
          </a:prstGeom>
          <a:solidFill>
            <a:schemeClr val="accent1"/>
          </a:solidFill>
          <a:ln/>
        </p:spPr>
      </p:sp>
      <p:pic>
        <p:nvPicPr>
          <p:cNvPr id="5" name="Contrôle de la méthode (icône)" descr="Contrôle">    </p:cNvPr>
          <p:cNvPicPr>
            <a:picLocks noChangeAspect="1"/>
          </p:cNvPicPr>
          <p:nvPr/>
        </p:nvPicPr>
        <p:blipFill>
          <a:blip r:embed="rId1"/>
          <a:stretch>
            <a:fillRect/>
          </a:stretch>
        </p:blipFill>
        <p:spPr>
          <a:xfrm>
            <a:off x="640080" y="5687568"/>
            <a:ext cx="274320" cy="274320"/>
          </a:xfrm>
          <a:prstGeom prst="rect">
            <a:avLst/>
          </a:prstGeom>
        </p:spPr>
      </p:pic>
      <p:sp>
        <p:nvSpPr>
          <p:cNvPr id="6" name="Text 2"/>
          <p:cNvSpPr txBox="1"/>
          <p:nvPr/>
        </p:nvSpPr>
        <p:spPr>
          <a:xfrm>
            <a:off x="1143000" y="5532120"/>
            <a:ext cx="10469880" cy="594360"/>
          </a:xfrm>
          <a:prstGeom prst="rect">
            <a:avLst/>
          </a:prstGeom>
          <a:noFill/>
          <a:ln/>
        </p:spPr>
        <p:txBody>
          <a:bodyPr wrap="square" lIns="0" tIns="0" rIns="0" bIns="0" rtlCol="0" anchor="ctr"/>
          <a:lstStyle/>
          <a:p>
            <a:pPr indent="0" marL="0">
              <a:buNone/>
            </a:pPr>
            <a:r>
              <a:rPr lang="en-US" sz="1500" b="1" dirty="0">
                <a:solidFill>
                  <a:schemeClr val="tx2"/>
                </a:solidFill>
              </a:rPr>
              <a:t>La méthode est elle-même contrôlée : 13 spécifications versionnées et 489 invariants, vérifiés automatiquement à chaque modification.</a:t>
            </a:r>
            <a:endParaRPr lang="en-US" sz="15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Annexe B : sources</a:t>
            </a:r>
            <a:endParaRPr lang="en-US" sz="3600" dirty="0"/>
          </a:p>
        </p:txBody>
      </p:sp>
      <p:sp>
        <p:nvSpPr>
          <p:cNvPr id="3" name="Text 1"/>
          <p:cNvSpPr txBox="1"/>
          <p:nvPr/>
        </p:nvSpPr>
        <p:spPr>
          <a:xfrm>
            <a:off x="548640" y="1371600"/>
            <a:ext cx="11064240" cy="3840480"/>
          </a:xfrm>
          <a:prstGeom prst="rect">
            <a:avLst/>
          </a:prstGeom>
          <a:noFill/>
          <a:ln/>
        </p:spPr>
        <p:txBody>
          <a:bodyPr wrap="square" lIns="0" tIns="0" rIns="0" bIns="0" rtlCol="0" anchor="t"/>
          <a:lstStyle/>
          <a:p>
            <a:pPr indent="0" marL="0">
              <a:spcAft>
                <a:spcPts val="1000"/>
              </a:spcAft>
              <a:buNone/>
            </a:pPr>
            <a:r>
              <a:rPr lang="en-US" sz="1500" b="1" u="sng" dirty="0">
                <a:solidFill>
                  <a:schemeClr val="accent1"/>
                </a:solidFill>
                <a:hlinkClick r:id="rId1" invalidUrl="" action="" tgtFrame="" tooltip="https://virtualizationreview.com/Articles/2025/08/19/MIT-Report-Finds-Most-AI-Business-Investments-Fail-Reveals-GenAI-Divide.aspx" history="1" highlightClick="0" endSnd="0">
                  <a:extLst>
                    <a:ext uri="{A12FA001-AC4F-418D-AE19-62706E023703}">
                      <ahyp:hlinkClr xmlns:ahyp="http://schemas.microsoft.com/office/drawing/2018/hyperlinkcolor" val="tx"/>
                    </a:ext>
                  </a:extLst>
                </a:hlinkClick>
              </a:rPr>
              <a:t>MIT NANDA, The GenAI Divide: State of AI in Business 2025</a:t>
            </a:r>
            <a:pPr indent="0" marL="0">
              <a:spcAft>
                <a:spcPts val="1000"/>
              </a:spcAft>
              <a:buNone/>
            </a:pPr>
            <a:r>
              <a:rPr lang="en-US" sz="1500" dirty="0">
                <a:solidFill>
                  <a:schemeClr val="tx1"/>
                </a:solidFill>
              </a:rPr>
              <a:t> : présenté par Virtualization Review, 19 août 2025</a:t>
            </a:r>
            <a:endParaRPr lang="en-US" sz="1500" dirty="0"/>
          </a:p>
          <a:p>
            <a:pPr indent="0" marL="0">
              <a:spcAft>
                <a:spcPts val="1000"/>
              </a:spcAft>
              <a:buNone/>
            </a:pPr>
            <a:r>
              <a:rPr lang="en-US" sz="1500" b="1" u="sng" dirty="0">
                <a:solidFill>
                  <a:schemeClr val="accent1"/>
                </a:solidFill>
                <a:hlinkClick r:id="rId2" invalidUrl="" action="" tgtFrame="" tooltip="https://www.hpcwire.com/bigdatawire/this-just-in/gartner-predicts-over-40-of-agentic-ai-projects-will-be-canceled-by-end-of-2027/" history="1" highlightClick="0" endSnd="0">
                  <a:extLst>
                    <a:ext uri="{A12FA001-AC4F-418D-AE19-62706E023703}">
                      <ahyp:hlinkClr xmlns:ahyp="http://schemas.microsoft.com/office/drawing/2018/hyperlinkcolor" val="tx"/>
                    </a:ext>
                  </a:extLst>
                </a:hlinkClick>
              </a:rPr>
              <a:t>Gartner, prévision du 25 juin 2025 sur l'IA agentique</a:t>
            </a:r>
            <a:pPr indent="0" marL="0">
              <a:spcAft>
                <a:spcPts val="1000"/>
              </a:spcAft>
              <a:buNone/>
            </a:pPr>
            <a:r>
              <a:rPr lang="en-US" sz="1500" dirty="0">
                <a:solidFill>
                  <a:schemeClr val="tx1"/>
                </a:solidFill>
              </a:rPr>
              <a:t> : reprise par BigDATAwire</a:t>
            </a:r>
            <a:endParaRPr lang="en-US" sz="1500" dirty="0"/>
          </a:p>
          <a:p>
            <a:pPr indent="0" marL="0">
              <a:spcAft>
                <a:spcPts val="1000"/>
              </a:spcAft>
              <a:buNone/>
            </a:pPr>
            <a:r>
              <a:rPr lang="en-US" sz="1500" b="1" u="sng" dirty="0">
                <a:solidFill>
                  <a:schemeClr val="accent1"/>
                </a:solidFill>
                <a:hlinkClick r:id="rId3" invalidUrl="" action="" tgtFrame="" tooltip="https://metr.org/blog/2025-07-10-early-2025-ai-experienced-os-dev-study/" history="1" highlightClick="0" endSnd="0">
                  <a:extLst>
                    <a:ext uri="{A12FA001-AC4F-418D-AE19-62706E023703}">
                      <ahyp:hlinkClr xmlns:ahyp="http://schemas.microsoft.com/office/drawing/2018/hyperlinkcolor" val="tx"/>
                    </a:ext>
                  </a:extLst>
                </a:hlinkClick>
              </a:rPr>
              <a:t>METR, Measuring the Impact of Early-2025 AI on Experienced Open-Source Developer Productivity</a:t>
            </a:r>
            <a:pPr indent="0" marL="0">
              <a:spcAft>
                <a:spcPts val="1000"/>
              </a:spcAft>
              <a:buNone/>
            </a:pPr>
            <a:r>
              <a:rPr lang="en-US" sz="1500" dirty="0">
                <a:solidFill>
                  <a:schemeClr val="tx1"/>
                </a:solidFill>
              </a:rPr>
              <a:t> : 10 juillet 2025 ; mise à jour de 2026 sur la fiabilité des nouvelles données</a:t>
            </a:r>
            <a:endParaRPr lang="en-US" sz="1500" dirty="0"/>
          </a:p>
          <a:p>
            <a:pPr indent="0" marL="0">
              <a:spcAft>
                <a:spcPts val="1000"/>
              </a:spcAft>
              <a:buNone/>
            </a:pPr>
            <a:r>
              <a:rPr lang="en-US" sz="1500" b="1" u="sng" dirty="0">
                <a:solidFill>
                  <a:schemeClr val="accent1"/>
                </a:solidFill>
                <a:hlinkClick r:id="rId4" invalidUrl="" action="" tgtFrame="" tooltip="https://arxiv.org/abs/2302.06590" history="1" highlightClick="0" endSnd="0">
                  <a:extLst>
                    <a:ext uri="{A12FA001-AC4F-418D-AE19-62706E023703}">
                      <ahyp:hlinkClr xmlns:ahyp="http://schemas.microsoft.com/office/drawing/2018/hyperlinkcolor" val="tx"/>
                    </a:ext>
                  </a:extLst>
                </a:hlinkClick>
              </a:rPr>
              <a:t>Peng, Kalliamvakou, Cihon et Demirer, The Impact of AI on Developer Productivity</a:t>
            </a:r>
            <a:pPr indent="0" marL="0">
              <a:spcAft>
                <a:spcPts val="1000"/>
              </a:spcAft>
              <a:buNone/>
            </a:pPr>
            <a:r>
              <a:rPr lang="en-US" sz="1500" dirty="0">
                <a:solidFill>
                  <a:schemeClr val="tx1"/>
                </a:solidFill>
              </a:rPr>
              <a:t> : arXiv, 2023</a:t>
            </a:r>
            <a:endParaRPr lang="en-US" sz="1500" dirty="0"/>
          </a:p>
          <a:p>
            <a:pPr indent="0" marL="0">
              <a:spcAft>
                <a:spcPts val="1000"/>
              </a:spcAft>
              <a:buNone/>
            </a:pPr>
            <a:r>
              <a:rPr lang="en-US" sz="1500" b="1" u="sng" dirty="0">
                <a:solidFill>
                  <a:schemeClr val="accent1"/>
                </a:solidFill>
                <a:hlinkClick r:id="rId5" invalidUrl="" action="" tgtFrame="" tooltip="https://cloud.google.com/blog/products/ai-machine-learning/announcing-the-2025-dora-report" history="1" highlightClick="0" endSnd="0">
                  <a:extLst>
                    <a:ext uri="{A12FA001-AC4F-418D-AE19-62706E023703}">
                      <ahyp:hlinkClr xmlns:ahyp="http://schemas.microsoft.com/office/drawing/2018/hyperlinkcolor" val="tx"/>
                    </a:ext>
                  </a:extLst>
                </a:hlinkClick>
              </a:rPr>
              <a:t>DORA, 2025 State of AI-assisted Software Development</a:t>
            </a:r>
            <a:pPr indent="0" marL="0">
              <a:spcAft>
                <a:spcPts val="1000"/>
              </a:spcAft>
              <a:buNone/>
            </a:pPr>
            <a:r>
              <a:rPr lang="en-US" sz="1500" dirty="0">
                <a:solidFill>
                  <a:schemeClr val="tx1"/>
                </a:solidFill>
              </a:rPr>
              <a:t> : Google Cloud ; les sept capacités sont nommées dans la synthèse de Splunk</a:t>
            </a:r>
            <a:endParaRPr lang="en-US" sz="1500" dirty="0"/>
          </a:p>
          <a:p>
            <a:pPr indent="0" marL="0">
              <a:spcAft>
                <a:spcPts val="1000"/>
              </a:spcAft>
              <a:buNone/>
            </a:pPr>
            <a:r>
              <a:rPr lang="en-US" sz="1500" b="1" u="sng" dirty="0">
                <a:solidFill>
                  <a:schemeClr val="accent1"/>
                </a:solidFill>
                <a:hlinkClick r:id="rId6" invalidUrl="" action="" tgtFrame="" tooltip="https://cloud.google.com/products/gemini/pricing" history="1" highlightClick="0" endSnd="0">
                  <a:extLst>
                    <a:ext uri="{A12FA001-AC4F-418D-AE19-62706E023703}">
                      <ahyp:hlinkClr xmlns:ahyp="http://schemas.microsoft.com/office/drawing/2018/hyperlinkcolor" val="tx"/>
                    </a:ext>
                  </a:extLst>
                </a:hlinkClick>
              </a:rPr>
              <a:t>Google Cloud, tarifs de Gemini Code Assist</a:t>
            </a:r>
            <a:pPr indent="0" marL="0">
              <a:spcAft>
                <a:spcPts val="1000"/>
              </a:spcAft>
              <a:buNone/>
            </a:pPr>
            <a:r>
              <a:rPr lang="en-US" sz="1500" dirty="0">
                <a:solidFill>
                  <a:schemeClr val="tx1"/>
                </a:solidFill>
              </a:rPr>
              <a:t> : prix horaires, ramenés au mois sur 730 heures</a:t>
            </a:r>
            <a:endParaRPr lang="en-US" sz="1500" dirty="0"/>
          </a:p>
        </p:txBody>
      </p:sp>
      <p:sp>
        <p:nvSpPr>
          <p:cNvPr id="4" name="Avertissement sur les chiffres"/>
          <p:cNvSpPr/>
          <p:nvPr/>
        </p:nvSpPr>
        <p:spPr>
          <a:xfrm>
            <a:off x="548640" y="5440680"/>
            <a:ext cx="11064240" cy="731520"/>
          </a:xfrm>
          <a:prstGeom prst="roundRect">
            <a:avLst>
              <a:gd name="adj" fmla="val 15000"/>
            </a:avLst>
          </a:prstGeom>
          <a:solidFill>
            <a:schemeClr val="bg2"/>
          </a:solidFill>
          <a:ln/>
        </p:spPr>
      </p:sp>
      <p:sp>
        <p:nvSpPr>
          <p:cNvPr id="5" name="Hypothèses (pastille)"/>
          <p:cNvSpPr/>
          <p:nvPr/>
        </p:nvSpPr>
        <p:spPr>
          <a:xfrm>
            <a:off x="731520" y="5550408"/>
            <a:ext cx="512064" cy="512064"/>
          </a:xfrm>
          <a:prstGeom prst="ellipse">
            <a:avLst/>
          </a:prstGeom>
          <a:solidFill>
            <a:schemeClr val="accent2"/>
          </a:solidFill>
          <a:ln/>
        </p:spPr>
      </p:sp>
      <p:pic>
        <p:nvPicPr>
          <p:cNvPr id="6" name="Hypothèses (icône)" descr="Calculatrice">    </p:cNvPr>
          <p:cNvPicPr>
            <a:picLocks noChangeAspect="1"/>
          </p:cNvPicPr>
          <p:nvPr/>
        </p:nvPicPr>
        <p:blipFill>
          <a:blip r:embed="rId7"/>
          <a:stretch>
            <a:fillRect/>
          </a:stretch>
        </p:blipFill>
        <p:spPr>
          <a:xfrm>
            <a:off x="833933" y="5652821"/>
            <a:ext cx="307238" cy="307238"/>
          </a:xfrm>
          <a:prstGeom prst="rect">
            <a:avLst/>
          </a:prstGeom>
        </p:spPr>
      </p:pic>
      <p:sp>
        <p:nvSpPr>
          <p:cNvPr id="7" name="Text 4"/>
          <p:cNvSpPr txBox="1"/>
          <p:nvPr/>
        </p:nvSpPr>
        <p:spPr>
          <a:xfrm>
            <a:off x="1463040" y="5468112"/>
            <a:ext cx="9966960" cy="676656"/>
          </a:xfrm>
          <a:prstGeom prst="rect">
            <a:avLst/>
          </a:prstGeom>
          <a:noFill/>
          <a:ln/>
        </p:spPr>
        <p:txBody>
          <a:bodyPr wrap="square" lIns="0" tIns="0" rIns="0" bIns="0" rtlCol="0" anchor="ctr"/>
          <a:lstStyle/>
          <a:p>
            <a:pPr indent="0" marL="0">
              <a:buNone/>
            </a:pPr>
            <a:r>
              <a:rPr lang="en-US" sz="1500" dirty="0">
                <a:solidFill>
                  <a:schemeClr val="tx2"/>
                </a:solidFill>
              </a:rPr>
              <a:t>Les chiffres publics viennent de ces sources. Ceux du modèle de rentabilité (diapositives 10 et 11) sont des hypothèses, à remplacer par les vôtres.</a:t>
            </a:r>
            <a:endParaRPr lang="en-US" sz="15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Investissement mesurable">
  <a:themeElements>
    <a:clrScheme name="Investissement mesurable">
      <a:dk1>
        <a:srgbClr val="1F2A3C"/>
      </a:dk1>
      <a:lt1>
        <a:srgbClr val="FFFFFF"/>
      </a:lt1>
      <a:dk2>
        <a:srgbClr val="0B2E59"/>
      </a:dk2>
      <a:lt2>
        <a:srgbClr val="EAF2FB"/>
      </a:lt2>
      <a:accent1>
        <a:srgbClr val="1F5FBF"/>
      </a:accent1>
      <a:accent2>
        <a:srgbClr val="4A90D9"/>
      </a:accent2>
      <a:accent3>
        <a:srgbClr val="9DB9DD"/>
      </a:accent3>
      <a:accent4>
        <a:srgbClr val="2C7BB6"/>
      </a:accent4>
      <a:accent5>
        <a:srgbClr val="6B7C93"/>
      </a:accent5>
      <a:accent6>
        <a:srgbClr val="5B6B80"/>
      </a:accent6>
      <a:hlink>
        <a:srgbClr val="1F5FBF"/>
      </a:hlink>
      <a:folHlink>
        <a:srgbClr val="4A90D9"/>
      </a:folHlink>
    </a:clrScheme>
    <a:fontScheme name="Investissement mesurab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L'IA, un investissement mesurable</dc:title>
  <dc:subject>Ce que vous financez dans le développement de vos applications, ce que vous en retirez, et comment le vérifier</dc:subject>
  <dc:creator>Équipe de développement</dc:creator>
  <cp:lastModifiedBy>Équipe de développement</cp:lastModifiedBy>
  <cp:revision>1</cp:revision>
  <dcterms:created xsi:type="dcterms:W3CDTF">2026-10-31T14:19:19Z</dcterms:created>
  <dcterms:modified xsi:type="dcterms:W3CDTF">2026-10-31T14:19:19Z</dcterms:modified>
</cp:coreProperties>
</file>